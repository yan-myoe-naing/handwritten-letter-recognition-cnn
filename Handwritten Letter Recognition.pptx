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Nunito Sans Expanded Bold" charset="1" panose="00000000000000000000"/>
      <p:regular r:id="rId20"/>
    </p:embeddedFont>
    <p:embeddedFont>
      <p:font typeface="League Spartan" charset="1" panose="00000800000000000000"/>
      <p:regular r:id="rId21"/>
    </p:embeddedFont>
    <p:embeddedFont>
      <p:font typeface="Nunito Sans Expanded" charset="1" panose="000000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47650" cy="10287000"/>
            <a:chOff x="0" y="0"/>
            <a:chExt cx="3302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302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330200">
                  <a:moveTo>
                    <a:pt x="0" y="0"/>
                  </a:moveTo>
                  <a:lnTo>
                    <a:pt x="330200" y="0"/>
                  </a:lnTo>
                  <a:lnTo>
                    <a:pt x="3302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2B676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302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810750" y="6953250"/>
            <a:ext cx="7239000" cy="2095500"/>
            <a:chOff x="0" y="0"/>
            <a:chExt cx="9652000" cy="2794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652000" cy="2794000"/>
            </a:xfrm>
            <a:custGeom>
              <a:avLst/>
              <a:gdLst/>
              <a:ahLst/>
              <a:cxnLst/>
              <a:rect r="r" b="b" t="t" l="l"/>
              <a:pathLst>
                <a:path h="2794000" w="9652000">
                  <a:moveTo>
                    <a:pt x="0" y="0"/>
                  </a:moveTo>
                  <a:lnTo>
                    <a:pt x="9652000" y="0"/>
                  </a:lnTo>
                  <a:lnTo>
                    <a:pt x="9652000" y="2794000"/>
                  </a:lnTo>
                  <a:lnTo>
                    <a:pt x="0" y="2794000"/>
                  </a:lnTo>
                  <a:close/>
                </a:path>
              </a:pathLst>
            </a:custGeom>
            <a:solidFill>
              <a:srgbClr val="FF5722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9652000" cy="283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1811000" y="1095375"/>
            <a:ext cx="4953000" cy="4953000"/>
          </a:xfrm>
          <a:custGeom>
            <a:avLst/>
            <a:gdLst/>
            <a:ahLst/>
            <a:cxnLst/>
            <a:rect r="r" b="b" t="t" l="l"/>
            <a:pathLst>
              <a:path h="4953000" w="4953000">
                <a:moveTo>
                  <a:pt x="0" y="0"/>
                </a:moveTo>
                <a:lnTo>
                  <a:pt x="4953000" y="0"/>
                </a:lnTo>
                <a:lnTo>
                  <a:pt x="4953000" y="4953000"/>
                </a:lnTo>
                <a:lnTo>
                  <a:pt x="0" y="4953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9" id="9"/>
          <p:cNvSpPr txBox="true"/>
          <p:nvPr/>
        </p:nvSpPr>
        <p:spPr>
          <a:xfrm rot="0">
            <a:off x="1000125" y="962025"/>
            <a:ext cx="6858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98" b="true">
                <a:solidFill>
                  <a:srgbClr val="075C46"/>
                </a:solidFill>
                <a:latin typeface="Nunito Sans Expanded Bold"/>
                <a:ea typeface="Nunito Sans Expanded Bold"/>
                <a:cs typeface="Nunito Sans Expanded Bold"/>
                <a:sym typeface="Nunito Sans Expanded Bold"/>
              </a:rPr>
              <a:t>DELE CA1  •  COMPUTER VISION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00125" y="2085975"/>
            <a:ext cx="10763250" cy="2147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62"/>
              </a:lnSpc>
            </a:pPr>
            <a:r>
              <a:rPr lang="en-US" sz="8100" b="true">
                <a:solidFill>
                  <a:srgbClr val="29060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Handwritten</a:t>
            </a:r>
          </a:p>
          <a:p>
            <a:pPr algn="l">
              <a:lnSpc>
                <a:spcPts val="8262"/>
              </a:lnSpc>
            </a:pPr>
            <a:r>
              <a:rPr lang="en-US" sz="8100" b="true">
                <a:solidFill>
                  <a:srgbClr val="29060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Letter Recognition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95375" y="4933950"/>
            <a:ext cx="6191250" cy="429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6"/>
              </a:lnSpc>
            </a:pPr>
            <a:r>
              <a:rPr lang="en-US" sz="2700" b="true">
                <a:solidFill>
                  <a:srgbClr val="7B22E8"/>
                </a:solidFill>
                <a:latin typeface="Nunito Sans Expanded Bold"/>
                <a:ea typeface="Nunito Sans Expanded Bold"/>
                <a:cs typeface="Nunito Sans Expanded Bold"/>
                <a:sym typeface="Nunito Sans Expanded Bold"/>
              </a:rPr>
              <a:t>DELE CA1 Part A: CNN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95375" y="8191500"/>
            <a:ext cx="571500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 spc="225" b="true">
                <a:solidFill>
                  <a:srgbClr val="290606"/>
                </a:solidFill>
                <a:latin typeface="Nunito Sans Expanded Bold"/>
                <a:ea typeface="Nunito Sans Expanded Bold"/>
                <a:cs typeface="Nunito Sans Expanded Bold"/>
                <a:sym typeface="Nunito Sans Expanded Bold"/>
              </a:rPr>
              <a:t>YAN MYOE NAING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57250" y="9725025"/>
            <a:ext cx="16573500" cy="188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b="true" sz="1200" spc="144">
                <a:solidFill>
                  <a:srgbClr val="075C46"/>
                </a:solidFill>
                <a:latin typeface="Nunito Sans Expanded Bold"/>
                <a:ea typeface="Nunito Sans Expanded Bold"/>
                <a:cs typeface="Nunito Sans Expanded Bold"/>
                <a:sym typeface="Nunito Sans Expanded Bold"/>
              </a:rPr>
              <a:t>HANDWRITTEN LETTER RECOGNITION   /   01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075C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57250" y="428625"/>
            <a:ext cx="57150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EEF4F3"/>
                </a:solidFill>
                <a:latin typeface="Nunito Sans Expanded Bold"/>
                <a:ea typeface="Nunito Sans Expanded Bold"/>
                <a:cs typeface="Nunito Sans Expanded Bold"/>
                <a:sym typeface="Nunito Sans Expanded Bold"/>
              </a:rPr>
              <a:t>02  •  DELE CA1 PART 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57250" y="895350"/>
            <a:ext cx="14287500" cy="585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7"/>
              </a:lnSpc>
            </a:pPr>
            <a:r>
              <a:rPr lang="en-US" sz="4350" b="tru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Task and Data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57250" y="1504950"/>
            <a:ext cx="1143000" cy="66675"/>
            <a:chOff x="0" y="0"/>
            <a:chExt cx="1524000" cy="889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0" cy="88900"/>
            </a:xfrm>
            <a:custGeom>
              <a:avLst/>
              <a:gdLst/>
              <a:ahLst/>
              <a:cxnLst/>
              <a:rect r="r" b="b" t="t" l="l"/>
              <a:pathLst>
                <a:path h="88900" w="1524000">
                  <a:moveTo>
                    <a:pt x="0" y="0"/>
                  </a:moveTo>
                  <a:lnTo>
                    <a:pt x="1524000" y="0"/>
                  </a:lnTo>
                  <a:lnTo>
                    <a:pt x="1524000" y="88900"/>
                  </a:lnTo>
                  <a:lnTo>
                    <a:pt x="0" y="88900"/>
                  </a:lnTo>
                  <a:close/>
                </a:path>
              </a:pathLst>
            </a:custGeom>
            <a:solidFill>
              <a:srgbClr val="FF5722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524000" cy="127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57250" y="2286000"/>
            <a:ext cx="3810000" cy="1809750"/>
            <a:chOff x="0" y="0"/>
            <a:chExt cx="5080000" cy="2413000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5080000" cy="2413000"/>
              <a:chOff x="0" y="0"/>
              <a:chExt cx="5080000" cy="24130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5080000" cy="2413000"/>
              </a:xfrm>
              <a:custGeom>
                <a:avLst/>
                <a:gdLst/>
                <a:ahLst/>
                <a:cxnLst/>
                <a:rect r="r" b="b" t="t" l="l"/>
                <a:pathLst>
                  <a:path h="2413000" w="5080000">
                    <a:moveTo>
                      <a:pt x="0" y="0"/>
                    </a:moveTo>
                    <a:lnTo>
                      <a:pt x="5080000" y="0"/>
                    </a:lnTo>
                    <a:lnTo>
                      <a:pt x="5080000" y="2413000"/>
                    </a:lnTo>
                    <a:lnTo>
                      <a:pt x="0" y="2413000"/>
                    </a:lnTo>
                    <a:close/>
                  </a:path>
                </a:pathLst>
              </a:custGeom>
              <a:solidFill>
                <a:srgbClr val="EEF4F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5080000" cy="245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355600" y="466725"/>
              <a:ext cx="4572000" cy="9010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972"/>
                </a:lnSpc>
              </a:pPr>
              <a:r>
                <a:rPr lang="en-US" sz="4875" b="true">
                  <a:solidFill>
                    <a:srgbClr val="FF5722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26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355600" y="1450975"/>
              <a:ext cx="4572000" cy="3661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04"/>
                </a:lnSpc>
              </a:pPr>
              <a:r>
                <a:rPr lang="en-US" sz="1800">
                  <a:solidFill>
                    <a:srgbClr val="290606"/>
                  </a:solidFill>
                  <a:latin typeface="Nunito Sans Expanded"/>
                  <a:ea typeface="Nunito Sans Expanded"/>
                  <a:cs typeface="Nunito Sans Expanded"/>
                  <a:sym typeface="Nunito Sans Expanded"/>
                </a:rPr>
                <a:t>letters A–Z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000625" y="2286000"/>
            <a:ext cx="3810000" cy="1809750"/>
            <a:chOff x="0" y="0"/>
            <a:chExt cx="5080000" cy="2413000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5080000" cy="2413000"/>
              <a:chOff x="0" y="0"/>
              <a:chExt cx="5080000" cy="24130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5080000" cy="2413000"/>
              </a:xfrm>
              <a:custGeom>
                <a:avLst/>
                <a:gdLst/>
                <a:ahLst/>
                <a:cxnLst/>
                <a:rect r="r" b="b" t="t" l="l"/>
                <a:pathLst>
                  <a:path h="2413000" w="5080000">
                    <a:moveTo>
                      <a:pt x="0" y="0"/>
                    </a:moveTo>
                    <a:lnTo>
                      <a:pt x="5080000" y="0"/>
                    </a:lnTo>
                    <a:lnTo>
                      <a:pt x="5080000" y="2413000"/>
                    </a:lnTo>
                    <a:lnTo>
                      <a:pt x="0" y="2413000"/>
                    </a:lnTo>
                    <a:close/>
                  </a:path>
                </a:pathLst>
              </a:custGeom>
              <a:solidFill>
                <a:srgbClr val="EEF4F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38100"/>
                <a:ext cx="5080000" cy="245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355600" y="466725"/>
              <a:ext cx="4572000" cy="9010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972"/>
                </a:lnSpc>
              </a:pPr>
              <a:r>
                <a:rPr lang="en-US" sz="4875" b="true">
                  <a:solidFill>
                    <a:srgbClr val="7B22E8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28×28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355600" y="1450975"/>
              <a:ext cx="4572000" cy="3661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04"/>
                </a:lnSpc>
              </a:pPr>
              <a:r>
                <a:rPr lang="en-US" sz="1800">
                  <a:solidFill>
                    <a:srgbClr val="290606"/>
                  </a:solidFill>
                  <a:latin typeface="Nunito Sans Expanded"/>
                  <a:ea typeface="Nunito Sans Expanded"/>
                  <a:cs typeface="Nunito Sans Expanded"/>
                  <a:sym typeface="Nunito Sans Expanded"/>
                </a:rPr>
                <a:t>grayscale image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144000" y="2286000"/>
            <a:ext cx="3810000" cy="1809750"/>
            <a:chOff x="0" y="0"/>
            <a:chExt cx="5080000" cy="2413000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5080000" cy="2413000"/>
              <a:chOff x="0" y="0"/>
              <a:chExt cx="5080000" cy="24130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5080000" cy="2413000"/>
              </a:xfrm>
              <a:custGeom>
                <a:avLst/>
                <a:gdLst/>
                <a:ahLst/>
                <a:cxnLst/>
                <a:rect r="r" b="b" t="t" l="l"/>
                <a:pathLst>
                  <a:path h="2413000" w="5080000">
                    <a:moveTo>
                      <a:pt x="0" y="0"/>
                    </a:moveTo>
                    <a:lnTo>
                      <a:pt x="5080000" y="0"/>
                    </a:lnTo>
                    <a:lnTo>
                      <a:pt x="5080000" y="2413000"/>
                    </a:lnTo>
                    <a:lnTo>
                      <a:pt x="0" y="2413000"/>
                    </a:lnTo>
                    <a:close/>
                  </a:path>
                </a:pathLst>
              </a:custGeom>
              <a:solidFill>
                <a:srgbClr val="EEF4F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38100"/>
                <a:ext cx="5080000" cy="245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355600" y="466725"/>
              <a:ext cx="4572000" cy="9010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972"/>
                </a:lnSpc>
              </a:pPr>
              <a:r>
                <a:rPr lang="en-US" sz="4875" b="true">
                  <a:solidFill>
                    <a:srgbClr val="FF5722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784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355600" y="1450975"/>
              <a:ext cx="4572000" cy="3661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04"/>
                </a:lnSpc>
              </a:pPr>
              <a:r>
                <a:rPr lang="en-US" sz="1800">
                  <a:solidFill>
                    <a:srgbClr val="290606"/>
                  </a:solidFill>
                  <a:latin typeface="Nunito Sans Expanded"/>
                  <a:ea typeface="Nunito Sans Expanded"/>
                  <a:cs typeface="Nunito Sans Expanded"/>
                  <a:sym typeface="Nunito Sans Expanded"/>
                </a:rPr>
                <a:t>pixels / sample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3287375" y="2286000"/>
            <a:ext cx="3810000" cy="1809750"/>
            <a:chOff x="0" y="0"/>
            <a:chExt cx="5080000" cy="2413000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0"/>
              <a:ext cx="5080000" cy="2413000"/>
              <a:chOff x="0" y="0"/>
              <a:chExt cx="5080000" cy="24130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5080000" cy="2413000"/>
              </a:xfrm>
              <a:custGeom>
                <a:avLst/>
                <a:gdLst/>
                <a:ahLst/>
                <a:cxnLst/>
                <a:rect r="r" b="b" t="t" l="l"/>
                <a:pathLst>
                  <a:path h="2413000" w="5080000">
                    <a:moveTo>
                      <a:pt x="0" y="0"/>
                    </a:moveTo>
                    <a:lnTo>
                      <a:pt x="5080000" y="0"/>
                    </a:lnTo>
                    <a:lnTo>
                      <a:pt x="5080000" y="2413000"/>
                    </a:lnTo>
                    <a:lnTo>
                      <a:pt x="0" y="2413000"/>
                    </a:lnTo>
                    <a:close/>
                  </a:path>
                </a:pathLst>
              </a:custGeom>
              <a:solidFill>
                <a:srgbClr val="EEF4F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38100"/>
                <a:ext cx="5080000" cy="245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9" id="29"/>
            <p:cNvSpPr txBox="true"/>
            <p:nvPr/>
          </p:nvSpPr>
          <p:spPr>
            <a:xfrm rot="0">
              <a:off x="355600" y="466725"/>
              <a:ext cx="4572000" cy="9010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972"/>
                </a:lnSpc>
              </a:pPr>
              <a:r>
                <a:rPr lang="en-US" sz="4875" b="true">
                  <a:solidFill>
                    <a:srgbClr val="7B22E8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99,040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355600" y="1450975"/>
              <a:ext cx="4572000" cy="3661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04"/>
                </a:lnSpc>
              </a:pPr>
              <a:r>
                <a:rPr lang="en-US" sz="1800">
                  <a:solidFill>
                    <a:srgbClr val="290606"/>
                  </a:solidFill>
                  <a:latin typeface="Nunito Sans Expanded"/>
                  <a:ea typeface="Nunito Sans Expanded"/>
                  <a:cs typeface="Nunito Sans Expanded"/>
                  <a:sym typeface="Nunito Sans Expanded"/>
                </a:rPr>
                <a:t>raw rows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1143000" y="5553075"/>
            <a:ext cx="10668000" cy="1221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4"/>
              </a:lnSpc>
            </a:pPr>
            <a:r>
              <a:rPr lang="en-US" sz="2550">
                <a:solidFill>
                  <a:srgbClr val="FFFFFF"/>
                </a:solidFill>
                <a:latin typeface="Nunito Sans Expanded"/>
                <a:ea typeface="Nunito Sans Expanded"/>
                <a:cs typeface="Nunito Sans Expanded"/>
                <a:sym typeface="Nunito Sans Expanded"/>
              </a:rPr>
              <a:t>Each row contains one label column plus 784 pixel columns. The goal is a 26-class classifier for handwritten capital letters.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3049250" y="5810250"/>
            <a:ext cx="3143250" cy="1619250"/>
            <a:chOff x="0" y="0"/>
            <a:chExt cx="4191000" cy="21590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191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4191000">
                  <a:moveTo>
                    <a:pt x="69273" y="0"/>
                  </a:moveTo>
                  <a:lnTo>
                    <a:pt x="4121727" y="0"/>
                  </a:lnTo>
                  <a:cubicBezTo>
                    <a:pt x="4140100" y="0"/>
                    <a:pt x="4157719" y="7298"/>
                    <a:pt x="4170711" y="20290"/>
                  </a:cubicBezTo>
                  <a:cubicBezTo>
                    <a:pt x="4183702" y="33281"/>
                    <a:pt x="4191000" y="50900"/>
                    <a:pt x="4191000" y="69273"/>
                  </a:cubicBezTo>
                  <a:lnTo>
                    <a:pt x="4191000" y="2089727"/>
                  </a:lnTo>
                  <a:cubicBezTo>
                    <a:pt x="4191000" y="2108100"/>
                    <a:pt x="4183702" y="2125719"/>
                    <a:pt x="4170711" y="2138711"/>
                  </a:cubicBezTo>
                  <a:cubicBezTo>
                    <a:pt x="4157719" y="2151702"/>
                    <a:pt x="4140100" y="2159000"/>
                    <a:pt x="4121727" y="2159000"/>
                  </a:cubicBezTo>
                  <a:lnTo>
                    <a:pt x="69273" y="2159000"/>
                  </a:lnTo>
                  <a:cubicBezTo>
                    <a:pt x="50900" y="2159000"/>
                    <a:pt x="33281" y="2151702"/>
                    <a:pt x="20290" y="2138711"/>
                  </a:cubicBezTo>
                  <a:cubicBezTo>
                    <a:pt x="7298" y="2125719"/>
                    <a:pt x="0" y="2108100"/>
                    <a:pt x="0" y="2089727"/>
                  </a:cubicBezTo>
                  <a:lnTo>
                    <a:pt x="0" y="69273"/>
                  </a:lnTo>
                  <a:cubicBezTo>
                    <a:pt x="0" y="50900"/>
                    <a:pt x="7298" y="33281"/>
                    <a:pt x="20290" y="20290"/>
                  </a:cubicBezTo>
                  <a:cubicBezTo>
                    <a:pt x="33281" y="7298"/>
                    <a:pt x="50900" y="0"/>
                    <a:pt x="69273" y="0"/>
                  </a:cubicBezTo>
                  <a:close/>
                </a:path>
              </a:pathLst>
            </a:custGeom>
            <a:solidFill>
              <a:srgbClr val="FF5722"/>
            </a:solidFill>
            <a:ln cap="sq">
              <a:noFill/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28575"/>
              <a:ext cx="4191000" cy="213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97"/>
                </a:lnSpc>
              </a:pPr>
              <a:r>
                <a:rPr lang="en-US" sz="1725" b="true">
                  <a:solidFill>
                    <a:srgbClr val="FFFFFF"/>
                  </a:solidFill>
                  <a:latin typeface="Nunito Sans Expanded Bold"/>
                  <a:ea typeface="Nunito Sans Expanded Bold"/>
                  <a:cs typeface="Nunito Sans Expanded Bold"/>
                  <a:sym typeface="Nunito Sans Expanded Bold"/>
                </a:rPr>
                <a:t>LABEL + PIXELS</a:t>
              </a: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857250" y="9725025"/>
            <a:ext cx="16573500" cy="188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b="true" sz="1200" spc="144">
                <a:solidFill>
                  <a:srgbClr val="CFE7DF"/>
                </a:solidFill>
                <a:latin typeface="Nunito Sans Expanded Bold"/>
                <a:ea typeface="Nunito Sans Expanded Bold"/>
                <a:cs typeface="Nunito Sans Expanded Bold"/>
                <a:sym typeface="Nunito Sans Expanded Bold"/>
              </a:rPr>
              <a:t>HANDWRITTEN LETTER RECOGNITION   /   02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57250" y="428625"/>
            <a:ext cx="57150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075C46"/>
                </a:solidFill>
                <a:latin typeface="Nunito Sans Expanded Bold"/>
                <a:ea typeface="Nunito Sans Expanded Bold"/>
                <a:cs typeface="Nunito Sans Expanded Bold"/>
                <a:sym typeface="Nunito Sans Expanded Bold"/>
              </a:rPr>
              <a:t>03  •  DELE CA1 PART 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57250" y="895350"/>
            <a:ext cx="14287500" cy="585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7"/>
              </a:lnSpc>
            </a:pPr>
            <a:r>
              <a:rPr lang="en-US" sz="4350" b="true">
                <a:solidFill>
                  <a:srgbClr val="29060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Data Inspection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57250" y="1504950"/>
            <a:ext cx="1143000" cy="66675"/>
            <a:chOff x="0" y="0"/>
            <a:chExt cx="1524000" cy="889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0" cy="88900"/>
            </a:xfrm>
            <a:custGeom>
              <a:avLst/>
              <a:gdLst/>
              <a:ahLst/>
              <a:cxnLst/>
              <a:rect r="r" b="b" t="t" l="l"/>
              <a:pathLst>
                <a:path h="88900" w="1524000">
                  <a:moveTo>
                    <a:pt x="0" y="0"/>
                  </a:moveTo>
                  <a:lnTo>
                    <a:pt x="1524000" y="0"/>
                  </a:lnTo>
                  <a:lnTo>
                    <a:pt x="1524000" y="88900"/>
                  </a:lnTo>
                  <a:lnTo>
                    <a:pt x="0" y="88900"/>
                  </a:lnTo>
                  <a:close/>
                </a:path>
              </a:pathLst>
            </a:custGeom>
            <a:solidFill>
              <a:srgbClr val="FF5722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524000" cy="127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952500" y="2486025"/>
            <a:ext cx="5715000" cy="826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73"/>
              </a:lnSpc>
            </a:pPr>
            <a:r>
              <a:rPr lang="en-US" sz="6150" b="true">
                <a:solidFill>
                  <a:srgbClr val="FF572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10,240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52500" y="3276600"/>
            <a:ext cx="5429250" cy="636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2"/>
              </a:lnSpc>
            </a:pPr>
            <a:r>
              <a:rPr lang="en-US" sz="2025">
                <a:solidFill>
                  <a:srgbClr val="290606"/>
                </a:solidFill>
                <a:latin typeface="Nunito Sans Expanded"/>
                <a:ea typeface="Nunito Sans Expanded"/>
                <a:cs typeface="Nunito Sans Expanded"/>
                <a:sym typeface="Nunito Sans Expanded"/>
              </a:rPr>
              <a:t>invalid-label rows (−1 / −2), mostly blank or noisy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52500" y="4667250"/>
            <a:ext cx="5429250" cy="413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6"/>
              </a:lnSpc>
            </a:pPr>
            <a:r>
              <a:rPr lang="en-US" sz="3075" b="true">
                <a:solidFill>
                  <a:srgbClr val="7B22E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9,465 duplicates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52500" y="5210175"/>
            <a:ext cx="5429250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1875">
                <a:solidFill>
                  <a:srgbClr val="290606"/>
                </a:solidFill>
                <a:latin typeface="Nunito Sans Expanded"/>
                <a:ea typeface="Nunito Sans Expanded"/>
                <a:cs typeface="Nunito Sans Expanded"/>
                <a:sym typeface="Nunito Sans Expanded"/>
              </a:rPr>
              <a:t>Checked, but not all removed. One corrupted invalid row reaches pixel value 345.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14375" y="6858000"/>
            <a:ext cx="6000750" cy="2000250"/>
            <a:chOff x="0" y="0"/>
            <a:chExt cx="8001000" cy="2667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001000" cy="2667000"/>
            </a:xfrm>
            <a:custGeom>
              <a:avLst/>
              <a:gdLst/>
              <a:ahLst/>
              <a:cxnLst/>
              <a:rect r="r" b="b" t="t" l="l"/>
              <a:pathLst>
                <a:path h="2667000" w="8001000">
                  <a:moveTo>
                    <a:pt x="0" y="0"/>
                  </a:moveTo>
                  <a:lnTo>
                    <a:pt x="8001000" y="0"/>
                  </a:lnTo>
                  <a:lnTo>
                    <a:pt x="8001000" y="2667000"/>
                  </a:lnTo>
                  <a:lnTo>
                    <a:pt x="0" y="2667000"/>
                  </a:lnTo>
                  <a:close/>
                </a:path>
              </a:pathLst>
            </a:custGeom>
            <a:solidFill>
              <a:srgbClr val="CFE7DF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8001000" cy="270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952500" y="7162800"/>
            <a:ext cx="5429250" cy="472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2"/>
              </a:lnSpc>
            </a:pPr>
            <a:r>
              <a:rPr lang="en-US" sz="3600" b="true">
                <a:solidFill>
                  <a:srgbClr val="075C4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CLEAN  88,800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52500" y="7753350"/>
            <a:ext cx="5429250" cy="544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8"/>
              </a:lnSpc>
            </a:pPr>
            <a:r>
              <a:rPr lang="en-US" sz="1725">
                <a:solidFill>
                  <a:srgbClr val="290606"/>
                </a:solidFill>
                <a:latin typeface="Nunito Sans Expanded"/>
                <a:ea typeface="Nunito Sans Expanded"/>
                <a:cs typeface="Nunito Sans Expanded"/>
                <a:sym typeface="Nunito Sans Expanded"/>
              </a:rPr>
              <a:t>Keep labels 1–26 and pixels 0–255; do not subtract the corrupted row twice.</a:t>
            </a:r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6743012" y="1435372"/>
            <a:ext cx="11374225" cy="7702006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857250" y="9725025"/>
            <a:ext cx="16573500" cy="188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b="true" sz="1200" spc="144">
                <a:solidFill>
                  <a:srgbClr val="075C46"/>
                </a:solidFill>
                <a:latin typeface="Nunito Sans Expanded Bold"/>
                <a:ea typeface="Nunito Sans Expanded Bold"/>
                <a:cs typeface="Nunito Sans Expanded Bold"/>
                <a:sym typeface="Nunito Sans Expanded Bold"/>
              </a:rPr>
              <a:t>HANDWRITTEN LETTER RECOGNITION   /   03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075C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57250" y="428625"/>
            <a:ext cx="57150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EEF4F3"/>
                </a:solidFill>
                <a:latin typeface="Nunito Sans Expanded Bold"/>
                <a:ea typeface="Nunito Sans Expanded Bold"/>
                <a:cs typeface="Nunito Sans Expanded Bold"/>
                <a:sym typeface="Nunito Sans Expanded Bold"/>
              </a:rPr>
              <a:t>04  •  DELE CA1 PART 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57250" y="895350"/>
            <a:ext cx="14287500" cy="585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7"/>
              </a:lnSpc>
            </a:pPr>
            <a:r>
              <a:rPr lang="en-US" sz="4350" b="tru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EDA and Preprocessing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57250" y="1504950"/>
            <a:ext cx="1143000" cy="66675"/>
            <a:chOff x="0" y="0"/>
            <a:chExt cx="1524000" cy="889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0" cy="88900"/>
            </a:xfrm>
            <a:custGeom>
              <a:avLst/>
              <a:gdLst/>
              <a:ahLst/>
              <a:cxnLst/>
              <a:rect r="r" b="b" t="t" l="l"/>
              <a:pathLst>
                <a:path h="88900" w="1524000">
                  <a:moveTo>
                    <a:pt x="0" y="0"/>
                  </a:moveTo>
                  <a:lnTo>
                    <a:pt x="1524000" y="0"/>
                  </a:lnTo>
                  <a:lnTo>
                    <a:pt x="1524000" y="88900"/>
                  </a:lnTo>
                  <a:lnTo>
                    <a:pt x="0" y="88900"/>
                  </a:lnTo>
                  <a:close/>
                </a:path>
              </a:pathLst>
            </a:custGeom>
            <a:solidFill>
              <a:srgbClr val="FF5722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524000" cy="127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143000" y="2238375"/>
            <a:ext cx="9906000" cy="895350"/>
            <a:chOff x="0" y="0"/>
            <a:chExt cx="13208000" cy="1193800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13208000" cy="1193800"/>
              <a:chOff x="0" y="0"/>
              <a:chExt cx="13208000" cy="11938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3208000" cy="1193800"/>
              </a:xfrm>
              <a:custGeom>
                <a:avLst/>
                <a:gdLst/>
                <a:ahLst/>
                <a:cxnLst/>
                <a:rect r="r" b="b" t="t" l="l"/>
                <a:pathLst>
                  <a:path h="1193800" w="13208000">
                    <a:moveTo>
                      <a:pt x="0" y="0"/>
                    </a:moveTo>
                    <a:lnTo>
                      <a:pt x="13208000" y="0"/>
                    </a:lnTo>
                    <a:lnTo>
                      <a:pt x="13208000" y="1193800"/>
                    </a:lnTo>
                    <a:lnTo>
                      <a:pt x="0" y="1193800"/>
                    </a:lnTo>
                    <a:close/>
                  </a:path>
                </a:pathLst>
              </a:custGeom>
              <a:solidFill>
                <a:srgbClr val="EEF4F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13208000" cy="1231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635000" y="301625"/>
              <a:ext cx="11176000" cy="4768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77"/>
                </a:lnSpc>
              </a:pPr>
              <a:r>
                <a:rPr lang="en-US" sz="2625" b="true">
                  <a:solidFill>
                    <a:srgbClr val="290606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01   Reshape → 28×28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143000" y="3419475"/>
            <a:ext cx="9906000" cy="895350"/>
            <a:chOff x="0" y="0"/>
            <a:chExt cx="13208000" cy="1193800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13208000" cy="1193800"/>
              <a:chOff x="0" y="0"/>
              <a:chExt cx="13208000" cy="11938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3208000" cy="1193800"/>
              </a:xfrm>
              <a:custGeom>
                <a:avLst/>
                <a:gdLst/>
                <a:ahLst/>
                <a:cxnLst/>
                <a:rect r="r" b="b" t="t" l="l"/>
                <a:pathLst>
                  <a:path h="1193800" w="13208000">
                    <a:moveTo>
                      <a:pt x="0" y="0"/>
                    </a:moveTo>
                    <a:lnTo>
                      <a:pt x="13208000" y="0"/>
                    </a:lnTo>
                    <a:lnTo>
                      <a:pt x="13208000" y="1193800"/>
                    </a:lnTo>
                    <a:lnTo>
                      <a:pt x="0" y="1193800"/>
                    </a:lnTo>
                    <a:close/>
                  </a:path>
                </a:pathLst>
              </a:custGeom>
              <a:solidFill>
                <a:srgbClr val="FF5722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13208000" cy="1231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635000" y="301625"/>
              <a:ext cx="11176000" cy="4768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77"/>
                </a:lnSpc>
              </a:pPr>
              <a:r>
                <a:rPr lang="en-US" sz="2625" b="true">
                  <a:solidFill>
                    <a:srgbClr val="290606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02   Transpose → upright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43000" y="4600575"/>
            <a:ext cx="9906000" cy="895350"/>
            <a:chOff x="0" y="0"/>
            <a:chExt cx="13208000" cy="1193800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13208000" cy="1193800"/>
              <a:chOff x="0" y="0"/>
              <a:chExt cx="13208000" cy="11938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3208000" cy="1193800"/>
              </a:xfrm>
              <a:custGeom>
                <a:avLst/>
                <a:gdLst/>
                <a:ahLst/>
                <a:cxnLst/>
                <a:rect r="r" b="b" t="t" l="l"/>
                <a:pathLst>
                  <a:path h="1193800" w="13208000">
                    <a:moveTo>
                      <a:pt x="0" y="0"/>
                    </a:moveTo>
                    <a:lnTo>
                      <a:pt x="13208000" y="0"/>
                    </a:lnTo>
                    <a:lnTo>
                      <a:pt x="13208000" y="1193800"/>
                    </a:lnTo>
                    <a:lnTo>
                      <a:pt x="0" y="1193800"/>
                    </a:lnTo>
                    <a:close/>
                  </a:path>
                </a:pathLst>
              </a:custGeom>
              <a:solidFill>
                <a:srgbClr val="EEF4F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13208000" cy="1231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635000" y="301625"/>
              <a:ext cx="11176000" cy="4768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77"/>
                </a:lnSpc>
              </a:pPr>
              <a:r>
                <a:rPr lang="en-US" sz="2625" b="true">
                  <a:solidFill>
                    <a:srgbClr val="290606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03   Normalise ÷ 255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43000" y="5781675"/>
            <a:ext cx="9906000" cy="895350"/>
            <a:chOff x="0" y="0"/>
            <a:chExt cx="13208000" cy="1193800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13208000" cy="1193800"/>
              <a:chOff x="0" y="0"/>
              <a:chExt cx="13208000" cy="11938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13208000" cy="1193800"/>
              </a:xfrm>
              <a:custGeom>
                <a:avLst/>
                <a:gdLst/>
                <a:ahLst/>
                <a:cxnLst/>
                <a:rect r="r" b="b" t="t" l="l"/>
                <a:pathLst>
                  <a:path h="1193800" w="13208000">
                    <a:moveTo>
                      <a:pt x="0" y="0"/>
                    </a:moveTo>
                    <a:lnTo>
                      <a:pt x="13208000" y="0"/>
                    </a:lnTo>
                    <a:lnTo>
                      <a:pt x="13208000" y="1193800"/>
                    </a:lnTo>
                    <a:lnTo>
                      <a:pt x="0" y="1193800"/>
                    </a:lnTo>
                    <a:close/>
                  </a:path>
                </a:pathLst>
              </a:custGeom>
              <a:solidFill>
                <a:srgbClr val="EEF4F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38100"/>
                <a:ext cx="13208000" cy="1231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6" id="26"/>
            <p:cNvSpPr txBox="true"/>
            <p:nvPr/>
          </p:nvSpPr>
          <p:spPr>
            <a:xfrm rot="0">
              <a:off x="635000" y="301625"/>
              <a:ext cx="11176000" cy="4768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77"/>
                </a:lnSpc>
              </a:pPr>
              <a:r>
                <a:rPr lang="en-US" sz="2625" b="true">
                  <a:solidFill>
                    <a:srgbClr val="290606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04   Add channel → 28×28×1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143000" y="6962775"/>
            <a:ext cx="9906000" cy="895350"/>
            <a:chOff x="0" y="0"/>
            <a:chExt cx="13208000" cy="1193800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0"/>
              <a:ext cx="13208000" cy="1193800"/>
              <a:chOff x="0" y="0"/>
              <a:chExt cx="13208000" cy="11938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13208000" cy="1193800"/>
              </a:xfrm>
              <a:custGeom>
                <a:avLst/>
                <a:gdLst/>
                <a:ahLst/>
                <a:cxnLst/>
                <a:rect r="r" b="b" t="t" l="l"/>
                <a:pathLst>
                  <a:path h="1193800" w="13208000">
                    <a:moveTo>
                      <a:pt x="0" y="0"/>
                    </a:moveTo>
                    <a:lnTo>
                      <a:pt x="13208000" y="0"/>
                    </a:lnTo>
                    <a:lnTo>
                      <a:pt x="13208000" y="1193800"/>
                    </a:lnTo>
                    <a:lnTo>
                      <a:pt x="0" y="1193800"/>
                    </a:lnTo>
                    <a:close/>
                  </a:path>
                </a:pathLst>
              </a:custGeom>
              <a:solidFill>
                <a:srgbClr val="EEF4F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13208000" cy="1231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1" id="31"/>
            <p:cNvSpPr txBox="true"/>
            <p:nvPr/>
          </p:nvSpPr>
          <p:spPr>
            <a:xfrm rot="0">
              <a:off x="635000" y="301625"/>
              <a:ext cx="11176000" cy="4768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77"/>
                </a:lnSpc>
              </a:pPr>
              <a:r>
                <a:rPr lang="en-US" sz="2625" b="true">
                  <a:solidFill>
                    <a:srgbClr val="290606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05   Map labels → 0–25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12382500" y="2800350"/>
            <a:ext cx="4476750" cy="676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25"/>
              </a:lnSpc>
            </a:pPr>
            <a:r>
              <a:rPr lang="en-US" sz="5025" b="true">
                <a:solidFill>
                  <a:srgbClr val="FF572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3,365–3,453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477750" y="3552825"/>
            <a:ext cx="3810000" cy="627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sz="1950">
                <a:solidFill>
                  <a:srgbClr val="FFFFFF"/>
                </a:solidFill>
                <a:latin typeface="Nunito Sans Expanded"/>
                <a:ea typeface="Nunito Sans Expanded"/>
                <a:cs typeface="Nunito Sans Expanded"/>
                <a:sym typeface="Nunito Sans Expanded"/>
              </a:rPr>
              <a:t>samples per letter before cleaning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096750" y="5610225"/>
            <a:ext cx="4572000" cy="16550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8"/>
              </a:lnSpc>
            </a:pPr>
            <a:r>
              <a:rPr lang="en-US" sz="2100">
                <a:solidFill>
                  <a:srgbClr val="CFE7DF"/>
                </a:solidFill>
                <a:latin typeface="Nunito Sans Expanded"/>
                <a:ea typeface="Nunito Sans Expanded"/>
                <a:cs typeface="Nunito Sans Expanded"/>
                <a:sym typeface="Nunito Sans Expanded"/>
              </a:rPr>
              <a:t>Fairly balanced classes. Stroke width and letter shape vary naturally. Transpose is a fixed orientation correction—not augmentation.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857250" y="9725025"/>
            <a:ext cx="16573500" cy="188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b="true" sz="1200" spc="144">
                <a:solidFill>
                  <a:srgbClr val="CFE7DF"/>
                </a:solidFill>
                <a:latin typeface="Nunito Sans Expanded Bold"/>
                <a:ea typeface="Nunito Sans Expanded Bold"/>
                <a:cs typeface="Nunito Sans Expanded Bold"/>
                <a:sym typeface="Nunito Sans Expanded Bold"/>
              </a:rPr>
              <a:t>HANDWRITTEN LETTER RECOGNITION   /   04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57250" y="428625"/>
            <a:ext cx="57150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075C46"/>
                </a:solidFill>
                <a:latin typeface="Nunito Sans Expanded Bold"/>
                <a:ea typeface="Nunito Sans Expanded Bold"/>
                <a:cs typeface="Nunito Sans Expanded Bold"/>
                <a:sym typeface="Nunito Sans Expanded Bold"/>
              </a:rPr>
              <a:t>05  •  DELE CA1 PART 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57250" y="895350"/>
            <a:ext cx="14287500" cy="585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7"/>
              </a:lnSpc>
            </a:pPr>
            <a:r>
              <a:rPr lang="en-US" sz="4350" b="true">
                <a:solidFill>
                  <a:srgbClr val="29060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Stratified Split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57250" y="1504950"/>
            <a:ext cx="1143000" cy="66675"/>
            <a:chOff x="0" y="0"/>
            <a:chExt cx="1524000" cy="889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0" cy="88900"/>
            </a:xfrm>
            <a:custGeom>
              <a:avLst/>
              <a:gdLst/>
              <a:ahLst/>
              <a:cxnLst/>
              <a:rect r="r" b="b" t="t" l="l"/>
              <a:pathLst>
                <a:path h="88900" w="1524000">
                  <a:moveTo>
                    <a:pt x="0" y="0"/>
                  </a:moveTo>
                  <a:lnTo>
                    <a:pt x="1524000" y="0"/>
                  </a:lnTo>
                  <a:lnTo>
                    <a:pt x="1524000" y="88900"/>
                  </a:lnTo>
                  <a:lnTo>
                    <a:pt x="0" y="88900"/>
                  </a:lnTo>
                  <a:close/>
                </a:path>
              </a:pathLst>
            </a:custGeom>
            <a:solidFill>
              <a:srgbClr val="FF5722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524000" cy="127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4784" y="2293341"/>
            <a:ext cx="9375431" cy="6462317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9858375" y="2800350"/>
            <a:ext cx="5905500" cy="643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6"/>
              </a:lnSpc>
            </a:pPr>
            <a:r>
              <a:rPr lang="en-US" sz="4800" b="true">
                <a:solidFill>
                  <a:srgbClr val="02B67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62,160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06000" y="3400425"/>
            <a:ext cx="619125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215" b="true">
                <a:solidFill>
                  <a:srgbClr val="290606"/>
                </a:solidFill>
                <a:latin typeface="Nunito Sans Expanded Bold"/>
                <a:ea typeface="Nunito Sans Expanded Bold"/>
                <a:cs typeface="Nunito Sans Expanded Bold"/>
                <a:sym typeface="Nunito Sans Expanded Bold"/>
              </a:rPr>
              <a:t>TRAIN  /  learning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858375" y="4752975"/>
            <a:ext cx="5905500" cy="643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6"/>
              </a:lnSpc>
            </a:pPr>
            <a:r>
              <a:rPr lang="en-US" sz="4800" b="true">
                <a:solidFill>
                  <a:srgbClr val="7B22E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8,880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06000" y="5353050"/>
            <a:ext cx="619125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215" b="true">
                <a:solidFill>
                  <a:srgbClr val="290606"/>
                </a:solidFill>
                <a:latin typeface="Nunito Sans Expanded Bold"/>
                <a:ea typeface="Nunito Sans Expanded Bold"/>
                <a:cs typeface="Nunito Sans Expanded Bold"/>
                <a:sym typeface="Nunito Sans Expanded Bold"/>
              </a:rPr>
              <a:t>VALIDATION  /  model selection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858375" y="6705600"/>
            <a:ext cx="5905500" cy="643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6"/>
              </a:lnSpc>
            </a:pPr>
            <a:r>
              <a:rPr lang="en-US" sz="4800" b="true">
                <a:solidFill>
                  <a:srgbClr val="FF572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17,760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06000" y="7305675"/>
            <a:ext cx="619125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215" b="true">
                <a:solidFill>
                  <a:srgbClr val="290606"/>
                </a:solidFill>
                <a:latin typeface="Nunito Sans Expanded Bold"/>
                <a:ea typeface="Nunito Sans Expanded Bold"/>
                <a:cs typeface="Nunito Sans Expanded Bold"/>
                <a:sym typeface="Nunito Sans Expanded Bold"/>
              </a:rPr>
              <a:t>TEST  /  final evaluation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191750" y="8296275"/>
            <a:ext cx="5715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98" b="true">
                <a:solidFill>
                  <a:srgbClr val="075C46"/>
                </a:solidFill>
                <a:latin typeface="Nunito Sans Expanded Bold"/>
                <a:ea typeface="Nunito Sans Expanded Bold"/>
                <a:cs typeface="Nunito Sans Expanded Bold"/>
                <a:sym typeface="Nunito Sans Expanded Bold"/>
              </a:rPr>
              <a:t>STRATIFIED  •  SEED 88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57250" y="9725025"/>
            <a:ext cx="16573500" cy="188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b="true" sz="1200" spc="144">
                <a:solidFill>
                  <a:srgbClr val="075C46"/>
                </a:solidFill>
                <a:latin typeface="Nunito Sans Expanded Bold"/>
                <a:ea typeface="Nunito Sans Expanded Bold"/>
                <a:cs typeface="Nunito Sans Expanded Bold"/>
                <a:sym typeface="Nunito Sans Expanded Bold"/>
              </a:rPr>
              <a:t>HANDWRITTEN LETTER RECOGNITION   /   05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075C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57250" y="428625"/>
            <a:ext cx="57150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EEF4F3"/>
                </a:solidFill>
                <a:latin typeface="Nunito Sans Expanded Bold"/>
                <a:ea typeface="Nunito Sans Expanded Bold"/>
                <a:cs typeface="Nunito Sans Expanded Bold"/>
                <a:sym typeface="Nunito Sans Expanded Bold"/>
              </a:rPr>
              <a:t>06  •  DELE CA1 PART 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57250" y="895350"/>
            <a:ext cx="14287500" cy="585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7"/>
              </a:lnSpc>
            </a:pPr>
            <a:r>
              <a:rPr lang="en-US" sz="4350" b="tru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Baseline CNN Architecture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57250" y="1504950"/>
            <a:ext cx="1143000" cy="66675"/>
            <a:chOff x="0" y="0"/>
            <a:chExt cx="1524000" cy="889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0" cy="88900"/>
            </a:xfrm>
            <a:custGeom>
              <a:avLst/>
              <a:gdLst/>
              <a:ahLst/>
              <a:cxnLst/>
              <a:rect r="r" b="b" t="t" l="l"/>
              <a:pathLst>
                <a:path h="88900" w="1524000">
                  <a:moveTo>
                    <a:pt x="0" y="0"/>
                  </a:moveTo>
                  <a:lnTo>
                    <a:pt x="1524000" y="0"/>
                  </a:lnTo>
                  <a:lnTo>
                    <a:pt x="1524000" y="88900"/>
                  </a:lnTo>
                  <a:lnTo>
                    <a:pt x="0" y="88900"/>
                  </a:lnTo>
                  <a:close/>
                </a:path>
              </a:pathLst>
            </a:custGeom>
            <a:solidFill>
              <a:srgbClr val="FF5722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524000" cy="127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66750" y="2333625"/>
            <a:ext cx="1809750" cy="1000125"/>
            <a:chOff x="0" y="0"/>
            <a:chExt cx="2413000" cy="13335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13000" cy="1333500"/>
            </a:xfrm>
            <a:custGeom>
              <a:avLst/>
              <a:gdLst/>
              <a:ahLst/>
              <a:cxnLst/>
              <a:rect r="r" b="b" t="t" l="l"/>
              <a:pathLst>
                <a:path h="1333500" w="2413000">
                  <a:moveTo>
                    <a:pt x="120316" y="0"/>
                  </a:moveTo>
                  <a:lnTo>
                    <a:pt x="2292684" y="0"/>
                  </a:lnTo>
                  <a:cubicBezTo>
                    <a:pt x="2324594" y="0"/>
                    <a:pt x="2355197" y="12676"/>
                    <a:pt x="2377760" y="35240"/>
                  </a:cubicBezTo>
                  <a:cubicBezTo>
                    <a:pt x="2400324" y="57803"/>
                    <a:pt x="2413000" y="88406"/>
                    <a:pt x="2413000" y="120316"/>
                  </a:cubicBezTo>
                  <a:lnTo>
                    <a:pt x="2413000" y="1213184"/>
                  </a:lnTo>
                  <a:cubicBezTo>
                    <a:pt x="2413000" y="1245094"/>
                    <a:pt x="2400324" y="1275697"/>
                    <a:pt x="2377760" y="1298260"/>
                  </a:cubicBezTo>
                  <a:cubicBezTo>
                    <a:pt x="2355197" y="1320824"/>
                    <a:pt x="2324594" y="1333500"/>
                    <a:pt x="2292684" y="1333500"/>
                  </a:cubicBezTo>
                  <a:lnTo>
                    <a:pt x="120316" y="1333500"/>
                  </a:lnTo>
                  <a:cubicBezTo>
                    <a:pt x="88406" y="1333500"/>
                    <a:pt x="57803" y="1320824"/>
                    <a:pt x="35240" y="1298260"/>
                  </a:cubicBezTo>
                  <a:cubicBezTo>
                    <a:pt x="12676" y="1275697"/>
                    <a:pt x="0" y="1245094"/>
                    <a:pt x="0" y="1213184"/>
                  </a:cubicBezTo>
                  <a:lnTo>
                    <a:pt x="0" y="120316"/>
                  </a:lnTo>
                  <a:cubicBezTo>
                    <a:pt x="0" y="88406"/>
                    <a:pt x="12676" y="57803"/>
                    <a:pt x="35240" y="35240"/>
                  </a:cubicBezTo>
                  <a:cubicBezTo>
                    <a:pt x="57803" y="12676"/>
                    <a:pt x="88406" y="0"/>
                    <a:pt x="120316" y="0"/>
                  </a:cubicBezTo>
                  <a:close/>
                </a:path>
              </a:pathLst>
            </a:custGeom>
            <a:solidFill>
              <a:srgbClr val="02B676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28575"/>
              <a:ext cx="2413000" cy="1304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97"/>
                </a:lnSpc>
              </a:pPr>
              <a:r>
                <a:rPr lang="en-US" sz="1725" b="true">
                  <a:solidFill>
                    <a:srgbClr val="FFFFFF"/>
                  </a:solidFill>
                  <a:latin typeface="Nunito Sans Expanded Bold"/>
                  <a:ea typeface="Nunito Sans Expanded Bold"/>
                  <a:cs typeface="Nunito Sans Expanded Bold"/>
                  <a:sym typeface="Nunito Sans Expanded Bold"/>
                </a:rPr>
                <a:t>Conv 30</a:t>
              </a:r>
            </a:p>
            <a:p>
              <a:pPr algn="ctr">
                <a:lnSpc>
                  <a:spcPts val="1897"/>
                </a:lnSpc>
              </a:pPr>
              <a:r>
                <a:rPr lang="en-US" sz="1725" b="true">
                  <a:solidFill>
                    <a:srgbClr val="FFFFFF"/>
                  </a:solidFill>
                  <a:latin typeface="Nunito Sans Expanded Bold"/>
                  <a:ea typeface="Nunito Sans Expanded Bold"/>
                  <a:cs typeface="Nunito Sans Expanded Bold"/>
                  <a:sym typeface="Nunito Sans Expanded Bold"/>
                </a:rPr>
                <a:t>5×5 + ReLU</a:t>
              </a:r>
            </a:p>
          </p:txBody>
        </p:sp>
      </p:grpSp>
      <p:sp>
        <p:nvSpPr>
          <p:cNvPr name="AutoShape 10" id="10"/>
          <p:cNvSpPr/>
          <p:nvPr/>
        </p:nvSpPr>
        <p:spPr>
          <a:xfrm>
            <a:off x="2495550" y="2838450"/>
            <a:ext cx="266700" cy="0"/>
          </a:xfrm>
          <a:prstGeom prst="line">
            <a:avLst/>
          </a:prstGeom>
          <a:ln cap="rnd" w="38100">
            <a:solidFill>
              <a:srgbClr val="EEF4F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2809875" y="2333625"/>
            <a:ext cx="1809750" cy="1000125"/>
            <a:chOff x="0" y="0"/>
            <a:chExt cx="2413000" cy="13335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413000" cy="1333500"/>
            </a:xfrm>
            <a:custGeom>
              <a:avLst/>
              <a:gdLst/>
              <a:ahLst/>
              <a:cxnLst/>
              <a:rect r="r" b="b" t="t" l="l"/>
              <a:pathLst>
                <a:path h="1333500" w="2413000">
                  <a:moveTo>
                    <a:pt x="120316" y="0"/>
                  </a:moveTo>
                  <a:lnTo>
                    <a:pt x="2292684" y="0"/>
                  </a:lnTo>
                  <a:cubicBezTo>
                    <a:pt x="2324594" y="0"/>
                    <a:pt x="2355197" y="12676"/>
                    <a:pt x="2377760" y="35240"/>
                  </a:cubicBezTo>
                  <a:cubicBezTo>
                    <a:pt x="2400324" y="57803"/>
                    <a:pt x="2413000" y="88406"/>
                    <a:pt x="2413000" y="120316"/>
                  </a:cubicBezTo>
                  <a:lnTo>
                    <a:pt x="2413000" y="1213184"/>
                  </a:lnTo>
                  <a:cubicBezTo>
                    <a:pt x="2413000" y="1245094"/>
                    <a:pt x="2400324" y="1275697"/>
                    <a:pt x="2377760" y="1298260"/>
                  </a:cubicBezTo>
                  <a:cubicBezTo>
                    <a:pt x="2355197" y="1320824"/>
                    <a:pt x="2324594" y="1333500"/>
                    <a:pt x="2292684" y="1333500"/>
                  </a:cubicBezTo>
                  <a:lnTo>
                    <a:pt x="120316" y="1333500"/>
                  </a:lnTo>
                  <a:cubicBezTo>
                    <a:pt x="88406" y="1333500"/>
                    <a:pt x="57803" y="1320824"/>
                    <a:pt x="35240" y="1298260"/>
                  </a:cubicBezTo>
                  <a:cubicBezTo>
                    <a:pt x="12676" y="1275697"/>
                    <a:pt x="0" y="1245094"/>
                    <a:pt x="0" y="1213184"/>
                  </a:cubicBezTo>
                  <a:lnTo>
                    <a:pt x="0" y="120316"/>
                  </a:lnTo>
                  <a:cubicBezTo>
                    <a:pt x="0" y="88406"/>
                    <a:pt x="12676" y="57803"/>
                    <a:pt x="35240" y="35240"/>
                  </a:cubicBezTo>
                  <a:cubicBezTo>
                    <a:pt x="57803" y="12676"/>
                    <a:pt x="88406" y="0"/>
                    <a:pt x="120316" y="0"/>
                  </a:cubicBezTo>
                  <a:close/>
                </a:path>
              </a:pathLst>
            </a:custGeom>
            <a:solidFill>
              <a:srgbClr val="02B676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28575"/>
              <a:ext cx="2413000" cy="1304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97"/>
                </a:lnSpc>
              </a:pPr>
              <a:r>
                <a:rPr lang="en-US" sz="1725" b="true">
                  <a:solidFill>
                    <a:srgbClr val="FFFFFF"/>
                  </a:solidFill>
                  <a:latin typeface="Nunito Sans Expanded Bold"/>
                  <a:ea typeface="Nunito Sans Expanded Bold"/>
                  <a:cs typeface="Nunito Sans Expanded Bold"/>
                  <a:sym typeface="Nunito Sans Expanded Bold"/>
                </a:rPr>
                <a:t>MaxPool</a:t>
              </a:r>
            </a:p>
            <a:p>
              <a:pPr algn="ctr">
                <a:lnSpc>
                  <a:spcPts val="1897"/>
                </a:lnSpc>
              </a:pPr>
              <a:r>
                <a:rPr lang="en-US" sz="1725" b="true">
                  <a:solidFill>
                    <a:srgbClr val="FFFFFF"/>
                  </a:solidFill>
                  <a:latin typeface="Nunito Sans Expanded Bold"/>
                  <a:ea typeface="Nunito Sans Expanded Bold"/>
                  <a:cs typeface="Nunito Sans Expanded Bold"/>
                  <a:sym typeface="Nunito Sans Expanded Bold"/>
                </a:rPr>
                <a:t>2×2</a:t>
              </a:r>
            </a:p>
          </p:txBody>
        </p:sp>
      </p:grpSp>
      <p:sp>
        <p:nvSpPr>
          <p:cNvPr name="AutoShape 14" id="14"/>
          <p:cNvSpPr/>
          <p:nvPr/>
        </p:nvSpPr>
        <p:spPr>
          <a:xfrm>
            <a:off x="4638675" y="2838450"/>
            <a:ext cx="266700" cy="0"/>
          </a:xfrm>
          <a:prstGeom prst="line">
            <a:avLst/>
          </a:prstGeom>
          <a:ln cap="rnd" w="38100">
            <a:solidFill>
              <a:srgbClr val="EEF4F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5" id="15"/>
          <p:cNvGrpSpPr/>
          <p:nvPr/>
        </p:nvGrpSpPr>
        <p:grpSpPr>
          <a:xfrm rot="0">
            <a:off x="4953000" y="2333625"/>
            <a:ext cx="1809750" cy="1000125"/>
            <a:chOff x="0" y="0"/>
            <a:chExt cx="2413000" cy="13335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413000" cy="1333500"/>
            </a:xfrm>
            <a:custGeom>
              <a:avLst/>
              <a:gdLst/>
              <a:ahLst/>
              <a:cxnLst/>
              <a:rect r="r" b="b" t="t" l="l"/>
              <a:pathLst>
                <a:path h="1333500" w="2413000">
                  <a:moveTo>
                    <a:pt x="120316" y="0"/>
                  </a:moveTo>
                  <a:lnTo>
                    <a:pt x="2292684" y="0"/>
                  </a:lnTo>
                  <a:cubicBezTo>
                    <a:pt x="2324594" y="0"/>
                    <a:pt x="2355197" y="12676"/>
                    <a:pt x="2377760" y="35240"/>
                  </a:cubicBezTo>
                  <a:cubicBezTo>
                    <a:pt x="2400324" y="57803"/>
                    <a:pt x="2413000" y="88406"/>
                    <a:pt x="2413000" y="120316"/>
                  </a:cubicBezTo>
                  <a:lnTo>
                    <a:pt x="2413000" y="1213184"/>
                  </a:lnTo>
                  <a:cubicBezTo>
                    <a:pt x="2413000" y="1245094"/>
                    <a:pt x="2400324" y="1275697"/>
                    <a:pt x="2377760" y="1298260"/>
                  </a:cubicBezTo>
                  <a:cubicBezTo>
                    <a:pt x="2355197" y="1320824"/>
                    <a:pt x="2324594" y="1333500"/>
                    <a:pt x="2292684" y="1333500"/>
                  </a:cubicBezTo>
                  <a:lnTo>
                    <a:pt x="120316" y="1333500"/>
                  </a:lnTo>
                  <a:cubicBezTo>
                    <a:pt x="88406" y="1333500"/>
                    <a:pt x="57803" y="1320824"/>
                    <a:pt x="35240" y="1298260"/>
                  </a:cubicBezTo>
                  <a:cubicBezTo>
                    <a:pt x="12676" y="1275697"/>
                    <a:pt x="0" y="1245094"/>
                    <a:pt x="0" y="1213184"/>
                  </a:cubicBezTo>
                  <a:lnTo>
                    <a:pt x="0" y="120316"/>
                  </a:lnTo>
                  <a:cubicBezTo>
                    <a:pt x="0" y="88406"/>
                    <a:pt x="12676" y="57803"/>
                    <a:pt x="35240" y="35240"/>
                  </a:cubicBezTo>
                  <a:cubicBezTo>
                    <a:pt x="57803" y="12676"/>
                    <a:pt x="88406" y="0"/>
                    <a:pt x="120316" y="0"/>
                  </a:cubicBezTo>
                  <a:close/>
                </a:path>
              </a:pathLst>
            </a:custGeom>
            <a:solidFill>
              <a:srgbClr val="02B676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28575"/>
              <a:ext cx="2413000" cy="1304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97"/>
                </a:lnSpc>
              </a:pPr>
              <a:r>
                <a:rPr lang="en-US" sz="1725" b="true">
                  <a:solidFill>
                    <a:srgbClr val="FFFFFF"/>
                  </a:solidFill>
                  <a:latin typeface="Nunito Sans Expanded Bold"/>
                  <a:ea typeface="Nunito Sans Expanded Bold"/>
                  <a:cs typeface="Nunito Sans Expanded Bold"/>
                  <a:sym typeface="Nunito Sans Expanded Bold"/>
                </a:rPr>
                <a:t>Conv 15</a:t>
              </a:r>
            </a:p>
            <a:p>
              <a:pPr algn="ctr">
                <a:lnSpc>
                  <a:spcPts val="1897"/>
                </a:lnSpc>
              </a:pPr>
              <a:r>
                <a:rPr lang="en-US" sz="1725" b="true">
                  <a:solidFill>
                    <a:srgbClr val="FFFFFF"/>
                  </a:solidFill>
                  <a:latin typeface="Nunito Sans Expanded Bold"/>
                  <a:ea typeface="Nunito Sans Expanded Bold"/>
                  <a:cs typeface="Nunito Sans Expanded Bold"/>
                  <a:sym typeface="Nunito Sans Expanded Bold"/>
                </a:rPr>
                <a:t>3×3 + ReLU</a:t>
              </a:r>
            </a:p>
          </p:txBody>
        </p:sp>
      </p:grpSp>
      <p:sp>
        <p:nvSpPr>
          <p:cNvPr name="AutoShape 18" id="18"/>
          <p:cNvSpPr/>
          <p:nvPr/>
        </p:nvSpPr>
        <p:spPr>
          <a:xfrm>
            <a:off x="6781800" y="2838450"/>
            <a:ext cx="266700" cy="0"/>
          </a:xfrm>
          <a:prstGeom prst="line">
            <a:avLst/>
          </a:prstGeom>
          <a:ln cap="rnd" w="38100">
            <a:solidFill>
              <a:srgbClr val="EEF4F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9" id="19"/>
          <p:cNvGrpSpPr/>
          <p:nvPr/>
        </p:nvGrpSpPr>
        <p:grpSpPr>
          <a:xfrm rot="0">
            <a:off x="7096125" y="2333625"/>
            <a:ext cx="1809750" cy="1000125"/>
            <a:chOff x="0" y="0"/>
            <a:chExt cx="2413000" cy="13335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413000" cy="1333500"/>
            </a:xfrm>
            <a:custGeom>
              <a:avLst/>
              <a:gdLst/>
              <a:ahLst/>
              <a:cxnLst/>
              <a:rect r="r" b="b" t="t" l="l"/>
              <a:pathLst>
                <a:path h="1333500" w="2413000">
                  <a:moveTo>
                    <a:pt x="120316" y="0"/>
                  </a:moveTo>
                  <a:lnTo>
                    <a:pt x="2292684" y="0"/>
                  </a:lnTo>
                  <a:cubicBezTo>
                    <a:pt x="2324594" y="0"/>
                    <a:pt x="2355197" y="12676"/>
                    <a:pt x="2377760" y="35240"/>
                  </a:cubicBezTo>
                  <a:cubicBezTo>
                    <a:pt x="2400324" y="57803"/>
                    <a:pt x="2413000" y="88406"/>
                    <a:pt x="2413000" y="120316"/>
                  </a:cubicBezTo>
                  <a:lnTo>
                    <a:pt x="2413000" y="1213184"/>
                  </a:lnTo>
                  <a:cubicBezTo>
                    <a:pt x="2413000" y="1245094"/>
                    <a:pt x="2400324" y="1275697"/>
                    <a:pt x="2377760" y="1298260"/>
                  </a:cubicBezTo>
                  <a:cubicBezTo>
                    <a:pt x="2355197" y="1320824"/>
                    <a:pt x="2324594" y="1333500"/>
                    <a:pt x="2292684" y="1333500"/>
                  </a:cubicBezTo>
                  <a:lnTo>
                    <a:pt x="120316" y="1333500"/>
                  </a:lnTo>
                  <a:cubicBezTo>
                    <a:pt x="88406" y="1333500"/>
                    <a:pt x="57803" y="1320824"/>
                    <a:pt x="35240" y="1298260"/>
                  </a:cubicBezTo>
                  <a:cubicBezTo>
                    <a:pt x="12676" y="1275697"/>
                    <a:pt x="0" y="1245094"/>
                    <a:pt x="0" y="1213184"/>
                  </a:cubicBezTo>
                  <a:lnTo>
                    <a:pt x="0" y="120316"/>
                  </a:lnTo>
                  <a:cubicBezTo>
                    <a:pt x="0" y="88406"/>
                    <a:pt x="12676" y="57803"/>
                    <a:pt x="35240" y="35240"/>
                  </a:cubicBezTo>
                  <a:cubicBezTo>
                    <a:pt x="57803" y="12676"/>
                    <a:pt x="88406" y="0"/>
                    <a:pt x="120316" y="0"/>
                  </a:cubicBezTo>
                  <a:close/>
                </a:path>
              </a:pathLst>
            </a:custGeom>
            <a:solidFill>
              <a:srgbClr val="02B676"/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28575"/>
              <a:ext cx="2413000" cy="1304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97"/>
                </a:lnSpc>
              </a:pPr>
              <a:r>
                <a:rPr lang="en-US" sz="1725" b="true">
                  <a:solidFill>
                    <a:srgbClr val="FFFFFF"/>
                  </a:solidFill>
                  <a:latin typeface="Nunito Sans Expanded Bold"/>
                  <a:ea typeface="Nunito Sans Expanded Bold"/>
                  <a:cs typeface="Nunito Sans Expanded Bold"/>
                  <a:sym typeface="Nunito Sans Expanded Bold"/>
                </a:rPr>
                <a:t>MaxPool</a:t>
              </a:r>
            </a:p>
            <a:p>
              <a:pPr algn="ctr">
                <a:lnSpc>
                  <a:spcPts val="1897"/>
                </a:lnSpc>
              </a:pPr>
              <a:r>
                <a:rPr lang="en-US" sz="1725" b="true">
                  <a:solidFill>
                    <a:srgbClr val="FFFFFF"/>
                  </a:solidFill>
                  <a:latin typeface="Nunito Sans Expanded Bold"/>
                  <a:ea typeface="Nunito Sans Expanded Bold"/>
                  <a:cs typeface="Nunito Sans Expanded Bold"/>
                  <a:sym typeface="Nunito Sans Expanded Bold"/>
                </a:rPr>
                <a:t>2×2</a:t>
              </a:r>
            </a:p>
          </p:txBody>
        </p:sp>
      </p:grpSp>
      <p:sp>
        <p:nvSpPr>
          <p:cNvPr name="AutoShape 22" id="22"/>
          <p:cNvSpPr/>
          <p:nvPr/>
        </p:nvSpPr>
        <p:spPr>
          <a:xfrm>
            <a:off x="8924925" y="2838450"/>
            <a:ext cx="266700" cy="0"/>
          </a:xfrm>
          <a:prstGeom prst="line">
            <a:avLst/>
          </a:prstGeom>
          <a:ln cap="rnd" w="38100">
            <a:solidFill>
              <a:srgbClr val="EEF4F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3" id="23"/>
          <p:cNvGrpSpPr/>
          <p:nvPr/>
        </p:nvGrpSpPr>
        <p:grpSpPr>
          <a:xfrm rot="0">
            <a:off x="9239250" y="2333625"/>
            <a:ext cx="1809750" cy="1000125"/>
            <a:chOff x="0" y="0"/>
            <a:chExt cx="2413000" cy="13335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413000" cy="1333500"/>
            </a:xfrm>
            <a:custGeom>
              <a:avLst/>
              <a:gdLst/>
              <a:ahLst/>
              <a:cxnLst/>
              <a:rect r="r" b="b" t="t" l="l"/>
              <a:pathLst>
                <a:path h="1333500" w="2413000">
                  <a:moveTo>
                    <a:pt x="120316" y="0"/>
                  </a:moveTo>
                  <a:lnTo>
                    <a:pt x="2292684" y="0"/>
                  </a:lnTo>
                  <a:cubicBezTo>
                    <a:pt x="2324594" y="0"/>
                    <a:pt x="2355197" y="12676"/>
                    <a:pt x="2377760" y="35240"/>
                  </a:cubicBezTo>
                  <a:cubicBezTo>
                    <a:pt x="2400324" y="57803"/>
                    <a:pt x="2413000" y="88406"/>
                    <a:pt x="2413000" y="120316"/>
                  </a:cubicBezTo>
                  <a:lnTo>
                    <a:pt x="2413000" y="1213184"/>
                  </a:lnTo>
                  <a:cubicBezTo>
                    <a:pt x="2413000" y="1245094"/>
                    <a:pt x="2400324" y="1275697"/>
                    <a:pt x="2377760" y="1298260"/>
                  </a:cubicBezTo>
                  <a:cubicBezTo>
                    <a:pt x="2355197" y="1320824"/>
                    <a:pt x="2324594" y="1333500"/>
                    <a:pt x="2292684" y="1333500"/>
                  </a:cubicBezTo>
                  <a:lnTo>
                    <a:pt x="120316" y="1333500"/>
                  </a:lnTo>
                  <a:cubicBezTo>
                    <a:pt x="88406" y="1333500"/>
                    <a:pt x="57803" y="1320824"/>
                    <a:pt x="35240" y="1298260"/>
                  </a:cubicBezTo>
                  <a:cubicBezTo>
                    <a:pt x="12676" y="1275697"/>
                    <a:pt x="0" y="1245094"/>
                    <a:pt x="0" y="1213184"/>
                  </a:cubicBezTo>
                  <a:lnTo>
                    <a:pt x="0" y="120316"/>
                  </a:lnTo>
                  <a:cubicBezTo>
                    <a:pt x="0" y="88406"/>
                    <a:pt x="12676" y="57803"/>
                    <a:pt x="35240" y="35240"/>
                  </a:cubicBezTo>
                  <a:cubicBezTo>
                    <a:pt x="57803" y="12676"/>
                    <a:pt x="88406" y="0"/>
                    <a:pt x="120316" y="0"/>
                  </a:cubicBezTo>
                  <a:close/>
                </a:path>
              </a:pathLst>
            </a:custGeom>
            <a:solidFill>
              <a:srgbClr val="FF5722"/>
            </a:solidFill>
            <a:ln cap="sq">
              <a:noFill/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28575"/>
              <a:ext cx="2413000" cy="1304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97"/>
                </a:lnSpc>
              </a:pPr>
              <a:r>
                <a:rPr lang="en-US" sz="1725" b="true">
                  <a:solidFill>
                    <a:srgbClr val="FFFFFF"/>
                  </a:solidFill>
                  <a:latin typeface="Nunito Sans Expanded Bold"/>
                  <a:ea typeface="Nunito Sans Expanded Bold"/>
                  <a:cs typeface="Nunito Sans Expanded Bold"/>
                  <a:sym typeface="Nunito Sans Expanded Bold"/>
                </a:rPr>
                <a:t>Dropout</a:t>
              </a:r>
            </a:p>
            <a:p>
              <a:pPr algn="ctr">
                <a:lnSpc>
                  <a:spcPts val="1897"/>
                </a:lnSpc>
              </a:pPr>
              <a:r>
                <a:rPr lang="en-US" sz="1725" b="true">
                  <a:solidFill>
                    <a:srgbClr val="FFFFFF"/>
                  </a:solidFill>
                  <a:latin typeface="Nunito Sans Expanded Bold"/>
                  <a:ea typeface="Nunito Sans Expanded Bold"/>
                  <a:cs typeface="Nunito Sans Expanded Bold"/>
                  <a:sym typeface="Nunito Sans Expanded Bold"/>
                </a:rPr>
                <a:t>0.20</a:t>
              </a:r>
            </a:p>
          </p:txBody>
        </p:sp>
      </p:grpSp>
      <p:sp>
        <p:nvSpPr>
          <p:cNvPr name="AutoShape 26" id="26"/>
          <p:cNvSpPr/>
          <p:nvPr/>
        </p:nvSpPr>
        <p:spPr>
          <a:xfrm>
            <a:off x="11068050" y="2838450"/>
            <a:ext cx="266700" cy="0"/>
          </a:xfrm>
          <a:prstGeom prst="line">
            <a:avLst/>
          </a:prstGeom>
          <a:ln cap="rnd" w="38100">
            <a:solidFill>
              <a:srgbClr val="EEF4F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7" id="27"/>
          <p:cNvGrpSpPr/>
          <p:nvPr/>
        </p:nvGrpSpPr>
        <p:grpSpPr>
          <a:xfrm rot="0">
            <a:off x="11382375" y="2333625"/>
            <a:ext cx="1809750" cy="1000125"/>
            <a:chOff x="0" y="0"/>
            <a:chExt cx="2413000" cy="13335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413000" cy="1333500"/>
            </a:xfrm>
            <a:custGeom>
              <a:avLst/>
              <a:gdLst/>
              <a:ahLst/>
              <a:cxnLst/>
              <a:rect r="r" b="b" t="t" l="l"/>
              <a:pathLst>
                <a:path h="1333500" w="2413000">
                  <a:moveTo>
                    <a:pt x="120316" y="0"/>
                  </a:moveTo>
                  <a:lnTo>
                    <a:pt x="2292684" y="0"/>
                  </a:lnTo>
                  <a:cubicBezTo>
                    <a:pt x="2324594" y="0"/>
                    <a:pt x="2355197" y="12676"/>
                    <a:pt x="2377760" y="35240"/>
                  </a:cubicBezTo>
                  <a:cubicBezTo>
                    <a:pt x="2400324" y="57803"/>
                    <a:pt x="2413000" y="88406"/>
                    <a:pt x="2413000" y="120316"/>
                  </a:cubicBezTo>
                  <a:lnTo>
                    <a:pt x="2413000" y="1213184"/>
                  </a:lnTo>
                  <a:cubicBezTo>
                    <a:pt x="2413000" y="1245094"/>
                    <a:pt x="2400324" y="1275697"/>
                    <a:pt x="2377760" y="1298260"/>
                  </a:cubicBezTo>
                  <a:cubicBezTo>
                    <a:pt x="2355197" y="1320824"/>
                    <a:pt x="2324594" y="1333500"/>
                    <a:pt x="2292684" y="1333500"/>
                  </a:cubicBezTo>
                  <a:lnTo>
                    <a:pt x="120316" y="1333500"/>
                  </a:lnTo>
                  <a:cubicBezTo>
                    <a:pt x="88406" y="1333500"/>
                    <a:pt x="57803" y="1320824"/>
                    <a:pt x="35240" y="1298260"/>
                  </a:cubicBezTo>
                  <a:cubicBezTo>
                    <a:pt x="12676" y="1275697"/>
                    <a:pt x="0" y="1245094"/>
                    <a:pt x="0" y="1213184"/>
                  </a:cubicBezTo>
                  <a:lnTo>
                    <a:pt x="0" y="120316"/>
                  </a:lnTo>
                  <a:cubicBezTo>
                    <a:pt x="0" y="88406"/>
                    <a:pt x="12676" y="57803"/>
                    <a:pt x="35240" y="35240"/>
                  </a:cubicBezTo>
                  <a:cubicBezTo>
                    <a:pt x="57803" y="12676"/>
                    <a:pt x="88406" y="0"/>
                    <a:pt x="120316" y="0"/>
                  </a:cubicBezTo>
                  <a:close/>
                </a:path>
              </a:pathLst>
            </a:custGeom>
            <a:solidFill>
              <a:srgbClr val="02B676"/>
            </a:solidFill>
            <a:ln cap="sq">
              <a:noFill/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28575"/>
              <a:ext cx="2413000" cy="1304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97"/>
                </a:lnSpc>
              </a:pPr>
              <a:r>
                <a:rPr lang="en-US" sz="1725" b="true">
                  <a:solidFill>
                    <a:srgbClr val="FFFFFF"/>
                  </a:solidFill>
                  <a:latin typeface="Nunito Sans Expanded Bold"/>
                  <a:ea typeface="Nunito Sans Expanded Bold"/>
                  <a:cs typeface="Nunito Sans Expanded Bold"/>
                  <a:sym typeface="Nunito Sans Expanded Bold"/>
                </a:rPr>
                <a:t>Flatten</a:t>
              </a:r>
            </a:p>
          </p:txBody>
        </p:sp>
      </p:grpSp>
      <p:sp>
        <p:nvSpPr>
          <p:cNvPr name="AutoShape 30" id="30"/>
          <p:cNvSpPr/>
          <p:nvPr/>
        </p:nvSpPr>
        <p:spPr>
          <a:xfrm>
            <a:off x="13211175" y="2838450"/>
            <a:ext cx="266700" cy="0"/>
          </a:xfrm>
          <a:prstGeom prst="line">
            <a:avLst/>
          </a:prstGeom>
          <a:ln cap="rnd" w="38100">
            <a:solidFill>
              <a:srgbClr val="EEF4F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1" id="31"/>
          <p:cNvGrpSpPr/>
          <p:nvPr/>
        </p:nvGrpSpPr>
        <p:grpSpPr>
          <a:xfrm rot="0">
            <a:off x="13525500" y="2333625"/>
            <a:ext cx="1809750" cy="1000125"/>
            <a:chOff x="0" y="0"/>
            <a:chExt cx="2413000" cy="13335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413000" cy="1333500"/>
            </a:xfrm>
            <a:custGeom>
              <a:avLst/>
              <a:gdLst/>
              <a:ahLst/>
              <a:cxnLst/>
              <a:rect r="r" b="b" t="t" l="l"/>
              <a:pathLst>
                <a:path h="1333500" w="2413000">
                  <a:moveTo>
                    <a:pt x="120316" y="0"/>
                  </a:moveTo>
                  <a:lnTo>
                    <a:pt x="2292684" y="0"/>
                  </a:lnTo>
                  <a:cubicBezTo>
                    <a:pt x="2324594" y="0"/>
                    <a:pt x="2355197" y="12676"/>
                    <a:pt x="2377760" y="35240"/>
                  </a:cubicBezTo>
                  <a:cubicBezTo>
                    <a:pt x="2400324" y="57803"/>
                    <a:pt x="2413000" y="88406"/>
                    <a:pt x="2413000" y="120316"/>
                  </a:cubicBezTo>
                  <a:lnTo>
                    <a:pt x="2413000" y="1213184"/>
                  </a:lnTo>
                  <a:cubicBezTo>
                    <a:pt x="2413000" y="1245094"/>
                    <a:pt x="2400324" y="1275697"/>
                    <a:pt x="2377760" y="1298260"/>
                  </a:cubicBezTo>
                  <a:cubicBezTo>
                    <a:pt x="2355197" y="1320824"/>
                    <a:pt x="2324594" y="1333500"/>
                    <a:pt x="2292684" y="1333500"/>
                  </a:cubicBezTo>
                  <a:lnTo>
                    <a:pt x="120316" y="1333500"/>
                  </a:lnTo>
                  <a:cubicBezTo>
                    <a:pt x="88406" y="1333500"/>
                    <a:pt x="57803" y="1320824"/>
                    <a:pt x="35240" y="1298260"/>
                  </a:cubicBezTo>
                  <a:cubicBezTo>
                    <a:pt x="12676" y="1275697"/>
                    <a:pt x="0" y="1245094"/>
                    <a:pt x="0" y="1213184"/>
                  </a:cubicBezTo>
                  <a:lnTo>
                    <a:pt x="0" y="120316"/>
                  </a:lnTo>
                  <a:cubicBezTo>
                    <a:pt x="0" y="88406"/>
                    <a:pt x="12676" y="57803"/>
                    <a:pt x="35240" y="35240"/>
                  </a:cubicBezTo>
                  <a:cubicBezTo>
                    <a:pt x="57803" y="12676"/>
                    <a:pt x="88406" y="0"/>
                    <a:pt x="120316" y="0"/>
                  </a:cubicBezTo>
                  <a:close/>
                </a:path>
              </a:pathLst>
            </a:custGeom>
            <a:solidFill>
              <a:srgbClr val="02B676"/>
            </a:solidFill>
            <a:ln cap="sq">
              <a:noFill/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28575"/>
              <a:ext cx="2413000" cy="1304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97"/>
                </a:lnSpc>
              </a:pPr>
              <a:r>
                <a:rPr lang="en-US" sz="1725" b="true">
                  <a:solidFill>
                    <a:srgbClr val="FFFFFF"/>
                  </a:solidFill>
                  <a:latin typeface="Nunito Sans Expanded Bold"/>
                  <a:ea typeface="Nunito Sans Expanded Bold"/>
                  <a:cs typeface="Nunito Sans Expanded Bold"/>
                  <a:sym typeface="Nunito Sans Expanded Bold"/>
                </a:rPr>
                <a:t>Dense 501</a:t>
              </a:r>
            </a:p>
            <a:p>
              <a:pPr algn="ctr">
                <a:lnSpc>
                  <a:spcPts val="1897"/>
                </a:lnSpc>
              </a:pPr>
              <a:r>
                <a:rPr lang="en-US" sz="1725" b="true">
                  <a:solidFill>
                    <a:srgbClr val="FFFFFF"/>
                  </a:solidFill>
                  <a:latin typeface="Nunito Sans Expanded Bold"/>
                  <a:ea typeface="Nunito Sans Expanded Bold"/>
                  <a:cs typeface="Nunito Sans Expanded Bold"/>
                  <a:sym typeface="Nunito Sans Expanded Bold"/>
                </a:rPr>
                <a:t>ReLU</a:t>
              </a:r>
            </a:p>
          </p:txBody>
        </p:sp>
      </p:grpSp>
      <p:sp>
        <p:nvSpPr>
          <p:cNvPr name="AutoShape 34" id="34"/>
          <p:cNvSpPr/>
          <p:nvPr/>
        </p:nvSpPr>
        <p:spPr>
          <a:xfrm>
            <a:off x="15354300" y="2838450"/>
            <a:ext cx="266700" cy="0"/>
          </a:xfrm>
          <a:prstGeom prst="line">
            <a:avLst/>
          </a:prstGeom>
          <a:ln cap="rnd" w="38100">
            <a:solidFill>
              <a:srgbClr val="EEF4F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5" id="35"/>
          <p:cNvGrpSpPr/>
          <p:nvPr/>
        </p:nvGrpSpPr>
        <p:grpSpPr>
          <a:xfrm rot="0">
            <a:off x="15668625" y="2333625"/>
            <a:ext cx="1809750" cy="1000125"/>
            <a:chOff x="0" y="0"/>
            <a:chExt cx="2413000" cy="13335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413000" cy="1333500"/>
            </a:xfrm>
            <a:custGeom>
              <a:avLst/>
              <a:gdLst/>
              <a:ahLst/>
              <a:cxnLst/>
              <a:rect r="r" b="b" t="t" l="l"/>
              <a:pathLst>
                <a:path h="1333500" w="2413000">
                  <a:moveTo>
                    <a:pt x="120316" y="0"/>
                  </a:moveTo>
                  <a:lnTo>
                    <a:pt x="2292684" y="0"/>
                  </a:lnTo>
                  <a:cubicBezTo>
                    <a:pt x="2324594" y="0"/>
                    <a:pt x="2355197" y="12676"/>
                    <a:pt x="2377760" y="35240"/>
                  </a:cubicBezTo>
                  <a:cubicBezTo>
                    <a:pt x="2400324" y="57803"/>
                    <a:pt x="2413000" y="88406"/>
                    <a:pt x="2413000" y="120316"/>
                  </a:cubicBezTo>
                  <a:lnTo>
                    <a:pt x="2413000" y="1213184"/>
                  </a:lnTo>
                  <a:cubicBezTo>
                    <a:pt x="2413000" y="1245094"/>
                    <a:pt x="2400324" y="1275697"/>
                    <a:pt x="2377760" y="1298260"/>
                  </a:cubicBezTo>
                  <a:cubicBezTo>
                    <a:pt x="2355197" y="1320824"/>
                    <a:pt x="2324594" y="1333500"/>
                    <a:pt x="2292684" y="1333500"/>
                  </a:cubicBezTo>
                  <a:lnTo>
                    <a:pt x="120316" y="1333500"/>
                  </a:lnTo>
                  <a:cubicBezTo>
                    <a:pt x="88406" y="1333500"/>
                    <a:pt x="57803" y="1320824"/>
                    <a:pt x="35240" y="1298260"/>
                  </a:cubicBezTo>
                  <a:cubicBezTo>
                    <a:pt x="12676" y="1275697"/>
                    <a:pt x="0" y="1245094"/>
                    <a:pt x="0" y="1213184"/>
                  </a:cubicBezTo>
                  <a:lnTo>
                    <a:pt x="0" y="120316"/>
                  </a:lnTo>
                  <a:cubicBezTo>
                    <a:pt x="0" y="88406"/>
                    <a:pt x="12676" y="57803"/>
                    <a:pt x="35240" y="35240"/>
                  </a:cubicBezTo>
                  <a:cubicBezTo>
                    <a:pt x="57803" y="12676"/>
                    <a:pt x="88406" y="0"/>
                    <a:pt x="120316" y="0"/>
                  </a:cubicBezTo>
                  <a:close/>
                </a:path>
              </a:pathLst>
            </a:custGeom>
            <a:solidFill>
              <a:srgbClr val="7B22E8"/>
            </a:solidFill>
            <a:ln cap="sq">
              <a:noFill/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28575"/>
              <a:ext cx="2413000" cy="1304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97"/>
                </a:lnSpc>
              </a:pPr>
              <a:r>
                <a:rPr lang="en-US" sz="1725" b="true">
                  <a:solidFill>
                    <a:srgbClr val="FFFFFF"/>
                  </a:solidFill>
                  <a:latin typeface="Nunito Sans Expanded Bold"/>
                  <a:ea typeface="Nunito Sans Expanded Bold"/>
                  <a:cs typeface="Nunito Sans Expanded Bold"/>
                  <a:sym typeface="Nunito Sans Expanded Bold"/>
                </a:rPr>
                <a:t>Dense 26</a:t>
              </a:r>
            </a:p>
            <a:p>
              <a:pPr algn="ctr">
                <a:lnSpc>
                  <a:spcPts val="1897"/>
                </a:lnSpc>
              </a:pPr>
              <a:r>
                <a:rPr lang="en-US" sz="1725" b="true">
                  <a:solidFill>
                    <a:srgbClr val="FFFFFF"/>
                  </a:solidFill>
                  <a:latin typeface="Nunito Sans Expanded Bold"/>
                  <a:ea typeface="Nunito Sans Expanded Bold"/>
                  <a:cs typeface="Nunito Sans Expanded Bold"/>
                  <a:sym typeface="Nunito Sans Expanded Bold"/>
                </a:rPr>
                <a:t>softmax</a:t>
              </a: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1047750" y="4610100"/>
            <a:ext cx="5334000" cy="100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50"/>
              </a:lnSpc>
            </a:pPr>
            <a:r>
              <a:rPr lang="en-US" sz="7500" b="true">
                <a:solidFill>
                  <a:srgbClr val="FF572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92.97%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143000" y="5610225"/>
            <a:ext cx="4762500" cy="312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2"/>
              </a:lnSpc>
            </a:pPr>
            <a:r>
              <a:rPr lang="en-US" sz="2025">
                <a:solidFill>
                  <a:srgbClr val="FFFFFF"/>
                </a:solidFill>
                <a:latin typeface="Nunito Sans Expanded"/>
                <a:ea typeface="Nunito Sans Expanded"/>
                <a:cs typeface="Nunito Sans Expanded"/>
                <a:sym typeface="Nunito Sans Expanded"/>
              </a:rPr>
              <a:t>validation accuracy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6953250" y="4600575"/>
            <a:ext cx="4572000" cy="919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38"/>
              </a:lnSpc>
            </a:pPr>
            <a:r>
              <a:rPr lang="en-US" sz="6900" b="true">
                <a:solidFill>
                  <a:srgbClr val="7B22E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0.2119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7048500" y="5610225"/>
            <a:ext cx="4000500" cy="312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2"/>
              </a:lnSpc>
            </a:pPr>
            <a:r>
              <a:rPr lang="en-US" sz="2025">
                <a:solidFill>
                  <a:srgbClr val="FFFFFF"/>
                </a:solidFill>
                <a:latin typeface="Nunito Sans Expanded"/>
                <a:ea typeface="Nunito Sans Expanded"/>
                <a:cs typeface="Nunito Sans Expanded"/>
                <a:sym typeface="Nunito Sans Expanded"/>
              </a:rPr>
              <a:t>validation loss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143000" y="7134225"/>
            <a:ext cx="15716250" cy="35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6"/>
              </a:lnSpc>
            </a:pPr>
            <a:r>
              <a:rPr lang="en-US" sz="2325">
                <a:solidFill>
                  <a:srgbClr val="CFE7DF"/>
                </a:solidFill>
                <a:latin typeface="Nunito Sans Expanded"/>
                <a:ea typeface="Nunito Sans Expanded"/>
                <a:cs typeface="Nunito Sans Expanded"/>
                <a:sym typeface="Nunito Sans Expanded"/>
              </a:rPr>
              <a:t>206,273 parameters  •  Adam  •  sparse categorical crossentropy  •  5 epochs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143000" y="8134350"/>
            <a:ext cx="15716250" cy="377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0"/>
              </a:lnSpc>
            </a:pPr>
            <a:r>
              <a:rPr lang="en-US" sz="2775" b="tru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MAIN CONFUSIONS   I / L    G / Q    U / V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857250" y="9725025"/>
            <a:ext cx="16573500" cy="188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b="true" sz="1200" spc="144">
                <a:solidFill>
                  <a:srgbClr val="CFE7DF"/>
                </a:solidFill>
                <a:latin typeface="Nunito Sans Expanded Bold"/>
                <a:ea typeface="Nunito Sans Expanded Bold"/>
                <a:cs typeface="Nunito Sans Expanded Bold"/>
                <a:sym typeface="Nunito Sans Expanded Bold"/>
              </a:rPr>
              <a:t>HANDWRITTEN LETTER RECOGNITION   /   06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EE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57250" y="428625"/>
            <a:ext cx="57150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075C46"/>
                </a:solidFill>
                <a:latin typeface="Nunito Sans Expanded Bold"/>
                <a:ea typeface="Nunito Sans Expanded Bold"/>
                <a:cs typeface="Nunito Sans Expanded Bold"/>
                <a:sym typeface="Nunito Sans Expanded Bold"/>
              </a:rPr>
              <a:t>07  •  DELE CA1 PART 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57250" y="895350"/>
            <a:ext cx="14287500" cy="585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7"/>
              </a:lnSpc>
            </a:pPr>
            <a:r>
              <a:rPr lang="en-US" sz="4350" b="true">
                <a:solidFill>
                  <a:srgbClr val="29060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Improvement Experiments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57250" y="1504950"/>
            <a:ext cx="1143000" cy="66675"/>
            <a:chOff x="0" y="0"/>
            <a:chExt cx="1524000" cy="889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0" cy="88900"/>
            </a:xfrm>
            <a:custGeom>
              <a:avLst/>
              <a:gdLst/>
              <a:ahLst/>
              <a:cxnLst/>
              <a:rect r="r" b="b" t="t" l="l"/>
              <a:pathLst>
                <a:path h="88900" w="1524000">
                  <a:moveTo>
                    <a:pt x="0" y="0"/>
                  </a:moveTo>
                  <a:lnTo>
                    <a:pt x="1524000" y="0"/>
                  </a:lnTo>
                  <a:lnTo>
                    <a:pt x="1524000" y="88900"/>
                  </a:lnTo>
                  <a:lnTo>
                    <a:pt x="0" y="88900"/>
                  </a:lnTo>
                  <a:close/>
                </a:path>
              </a:pathLst>
            </a:custGeom>
            <a:solidFill>
              <a:srgbClr val="FF5722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524000" cy="127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57250" y="2238375"/>
            <a:ext cx="7667625" cy="2333625"/>
            <a:chOff x="0" y="0"/>
            <a:chExt cx="10223500" cy="3111500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10223500" cy="3111500"/>
              <a:chOff x="0" y="0"/>
              <a:chExt cx="10223500" cy="31115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0223500" cy="3111500"/>
              </a:xfrm>
              <a:custGeom>
                <a:avLst/>
                <a:gdLst/>
                <a:ahLst/>
                <a:cxnLst/>
                <a:rect r="r" b="b" t="t" l="l"/>
                <a:pathLst>
                  <a:path h="3111500" w="10223500">
                    <a:moveTo>
                      <a:pt x="0" y="0"/>
                    </a:moveTo>
                    <a:lnTo>
                      <a:pt x="10223500" y="0"/>
                    </a:lnTo>
                    <a:lnTo>
                      <a:pt x="10223500" y="3111500"/>
                    </a:lnTo>
                    <a:lnTo>
                      <a:pt x="0" y="31115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10223500" cy="3149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0" y="0"/>
              <a:ext cx="203200" cy="3111500"/>
              <a:chOff x="0" y="0"/>
              <a:chExt cx="203200" cy="31115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203200" cy="3111500"/>
              </a:xfrm>
              <a:custGeom>
                <a:avLst/>
                <a:gdLst/>
                <a:ahLst/>
                <a:cxnLst/>
                <a:rect r="r" b="b" t="t" l="l"/>
                <a:pathLst>
                  <a:path h="3111500" w="203200">
                    <a:moveTo>
                      <a:pt x="0" y="0"/>
                    </a:moveTo>
                    <a:lnTo>
                      <a:pt x="203200" y="0"/>
                    </a:lnTo>
                    <a:lnTo>
                      <a:pt x="203200" y="3111500"/>
                    </a:lnTo>
                    <a:lnTo>
                      <a:pt x="0" y="3111500"/>
                    </a:lnTo>
                    <a:close/>
                  </a:path>
                </a:pathLst>
              </a:custGeom>
              <a:solidFill>
                <a:srgbClr val="02B67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203200" cy="3149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508000" y="501650"/>
              <a:ext cx="8890000" cy="5273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83"/>
                </a:lnSpc>
              </a:pPr>
              <a:r>
                <a:rPr lang="en-US" sz="2925" b="true">
                  <a:solidFill>
                    <a:srgbClr val="02B676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MODEL 1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508000" y="1323975"/>
              <a:ext cx="8890000" cy="8456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92"/>
                </a:lnSpc>
              </a:pPr>
              <a:r>
                <a:rPr lang="en-US" sz="2025">
                  <a:solidFill>
                    <a:srgbClr val="290606"/>
                  </a:solidFill>
                  <a:latin typeface="Nunito Sans Expanded"/>
                  <a:ea typeface="Nunito Sans Expanded"/>
                  <a:cs typeface="Nunito Sans Expanded"/>
                  <a:sym typeface="Nunito Sans Expanded"/>
                </a:rPr>
                <a:t>Filters 32/64 · 3×3 kernels</a:t>
              </a:r>
            </a:p>
            <a:p>
              <a:pPr algn="l">
                <a:lnSpc>
                  <a:spcPts val="2592"/>
                </a:lnSpc>
              </a:pPr>
              <a:r>
                <a:rPr lang="en-US" sz="2025">
                  <a:solidFill>
                    <a:srgbClr val="290606"/>
                  </a:solidFill>
                  <a:latin typeface="Nunito Sans Expanded"/>
                  <a:ea typeface="Nunito Sans Expanded"/>
                  <a:cs typeface="Nunito Sans Expanded"/>
                  <a:sym typeface="Nunito Sans Expanded"/>
                </a:rPr>
                <a:t>Stronger dropout · Dense 512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191625" y="2238375"/>
            <a:ext cx="7667625" cy="2333625"/>
            <a:chOff x="0" y="0"/>
            <a:chExt cx="10223500" cy="3111500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10223500" cy="3111500"/>
              <a:chOff x="0" y="0"/>
              <a:chExt cx="10223500" cy="31115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0223500" cy="3111500"/>
              </a:xfrm>
              <a:custGeom>
                <a:avLst/>
                <a:gdLst/>
                <a:ahLst/>
                <a:cxnLst/>
                <a:rect r="r" b="b" t="t" l="l"/>
                <a:pathLst>
                  <a:path h="3111500" w="10223500">
                    <a:moveTo>
                      <a:pt x="0" y="0"/>
                    </a:moveTo>
                    <a:lnTo>
                      <a:pt x="10223500" y="0"/>
                    </a:lnTo>
                    <a:lnTo>
                      <a:pt x="10223500" y="3111500"/>
                    </a:lnTo>
                    <a:lnTo>
                      <a:pt x="0" y="31115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10223500" cy="3149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0" y="0"/>
              <a:ext cx="203200" cy="3111500"/>
              <a:chOff x="0" y="0"/>
              <a:chExt cx="203200" cy="31115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203200" cy="3111500"/>
              </a:xfrm>
              <a:custGeom>
                <a:avLst/>
                <a:gdLst/>
                <a:ahLst/>
                <a:cxnLst/>
                <a:rect r="r" b="b" t="t" l="l"/>
                <a:pathLst>
                  <a:path h="3111500" w="203200">
                    <a:moveTo>
                      <a:pt x="0" y="0"/>
                    </a:moveTo>
                    <a:lnTo>
                      <a:pt x="203200" y="0"/>
                    </a:lnTo>
                    <a:lnTo>
                      <a:pt x="203200" y="3111500"/>
                    </a:lnTo>
                    <a:lnTo>
                      <a:pt x="0" y="3111500"/>
                    </a:lnTo>
                    <a:close/>
                  </a:path>
                </a:pathLst>
              </a:custGeom>
              <a:solidFill>
                <a:srgbClr val="FF5722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38100"/>
                <a:ext cx="203200" cy="3149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508000" y="501650"/>
              <a:ext cx="8890000" cy="5273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83"/>
                </a:lnSpc>
              </a:pPr>
              <a:r>
                <a:rPr lang="en-US" sz="2925" b="true">
                  <a:solidFill>
                    <a:srgbClr val="FF5722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MODEL 2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508000" y="1323975"/>
              <a:ext cx="8890000" cy="8456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92"/>
                </a:lnSpc>
              </a:pPr>
              <a:r>
                <a:rPr lang="en-US" sz="2025">
                  <a:solidFill>
                    <a:srgbClr val="290606"/>
                  </a:solidFill>
                  <a:latin typeface="Nunito Sans Expanded"/>
                  <a:ea typeface="Nunito Sans Expanded"/>
                  <a:cs typeface="Nunito Sans Expanded"/>
                  <a:sym typeface="Nunito Sans Expanded"/>
                </a:rPr>
                <a:t>Leaky ReLU</a:t>
              </a:r>
            </a:p>
            <a:p>
              <a:pPr algn="l">
                <a:lnSpc>
                  <a:spcPts val="2592"/>
                </a:lnSpc>
              </a:pPr>
              <a:r>
                <a:rPr lang="en-US" sz="2025">
                  <a:solidFill>
                    <a:srgbClr val="290606"/>
                  </a:solidFill>
                  <a:latin typeface="Nunito Sans Expanded"/>
                  <a:ea typeface="Nunito Sans Expanded"/>
                  <a:cs typeface="Nunito Sans Expanded"/>
                  <a:sym typeface="Nunito Sans Expanded"/>
                </a:rPr>
                <a:t>Batch-size adjustment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857250" y="5191125"/>
            <a:ext cx="7667625" cy="2333625"/>
            <a:chOff x="0" y="0"/>
            <a:chExt cx="10223500" cy="3111500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0"/>
              <a:ext cx="10223500" cy="3111500"/>
              <a:chOff x="0" y="0"/>
              <a:chExt cx="10223500" cy="31115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10223500" cy="3111500"/>
              </a:xfrm>
              <a:custGeom>
                <a:avLst/>
                <a:gdLst/>
                <a:ahLst/>
                <a:cxnLst/>
                <a:rect r="r" b="b" t="t" l="l"/>
                <a:pathLst>
                  <a:path h="3111500" w="10223500">
                    <a:moveTo>
                      <a:pt x="0" y="0"/>
                    </a:moveTo>
                    <a:lnTo>
                      <a:pt x="10223500" y="0"/>
                    </a:lnTo>
                    <a:lnTo>
                      <a:pt x="10223500" y="3111500"/>
                    </a:lnTo>
                    <a:lnTo>
                      <a:pt x="0" y="31115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38100"/>
                <a:ext cx="10223500" cy="3149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9" id="29"/>
            <p:cNvGrpSpPr/>
            <p:nvPr/>
          </p:nvGrpSpPr>
          <p:grpSpPr>
            <a:xfrm rot="0">
              <a:off x="0" y="0"/>
              <a:ext cx="203200" cy="3111500"/>
              <a:chOff x="0" y="0"/>
              <a:chExt cx="203200" cy="31115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203200" cy="3111500"/>
              </a:xfrm>
              <a:custGeom>
                <a:avLst/>
                <a:gdLst/>
                <a:ahLst/>
                <a:cxnLst/>
                <a:rect r="r" b="b" t="t" l="l"/>
                <a:pathLst>
                  <a:path h="3111500" w="203200">
                    <a:moveTo>
                      <a:pt x="0" y="0"/>
                    </a:moveTo>
                    <a:lnTo>
                      <a:pt x="203200" y="0"/>
                    </a:lnTo>
                    <a:lnTo>
                      <a:pt x="203200" y="3111500"/>
                    </a:lnTo>
                    <a:lnTo>
                      <a:pt x="0" y="3111500"/>
                    </a:lnTo>
                    <a:close/>
                  </a:path>
                </a:pathLst>
              </a:custGeom>
              <a:solidFill>
                <a:srgbClr val="7B22E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38100"/>
                <a:ext cx="203200" cy="3149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2" id="32"/>
            <p:cNvSpPr txBox="true"/>
            <p:nvPr/>
          </p:nvSpPr>
          <p:spPr>
            <a:xfrm rot="0">
              <a:off x="508000" y="501650"/>
              <a:ext cx="8890000" cy="5273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83"/>
                </a:lnSpc>
              </a:pPr>
              <a:r>
                <a:rPr lang="en-US" sz="2925" b="true">
                  <a:solidFill>
                    <a:srgbClr val="7B22E8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MODEL 3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508000" y="1323975"/>
              <a:ext cx="8890000" cy="8456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92"/>
                </a:lnSpc>
              </a:pPr>
              <a:r>
                <a:rPr lang="en-US" sz="2025">
                  <a:solidFill>
                    <a:srgbClr val="290606"/>
                  </a:solidFill>
                  <a:latin typeface="Nunito Sans Expanded"/>
                  <a:ea typeface="Nunito Sans Expanded"/>
                  <a:cs typeface="Nunito Sans Expanded"/>
                  <a:sym typeface="Nunito Sans Expanded"/>
                </a:rPr>
                <a:t>Batch Normalisation</a:t>
              </a:r>
            </a:p>
            <a:p>
              <a:pPr algn="l">
                <a:lnSpc>
                  <a:spcPts val="2592"/>
                </a:lnSpc>
              </a:pPr>
              <a:r>
                <a:rPr lang="en-US" sz="2025">
                  <a:solidFill>
                    <a:srgbClr val="290606"/>
                  </a:solidFill>
                  <a:latin typeface="Nunito Sans Expanded"/>
                  <a:ea typeface="Nunito Sans Expanded"/>
                  <a:cs typeface="Nunito Sans Expanded"/>
                  <a:sym typeface="Nunito Sans Expanded"/>
                </a:rPr>
                <a:t>Stronger regularisation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191625" y="5191125"/>
            <a:ext cx="7667625" cy="2333625"/>
            <a:chOff x="0" y="0"/>
            <a:chExt cx="10223500" cy="3111500"/>
          </a:xfrm>
        </p:grpSpPr>
        <p:grpSp>
          <p:nvGrpSpPr>
            <p:cNvPr name="Group 35" id="35"/>
            <p:cNvGrpSpPr/>
            <p:nvPr/>
          </p:nvGrpSpPr>
          <p:grpSpPr>
            <a:xfrm rot="0">
              <a:off x="0" y="0"/>
              <a:ext cx="10223500" cy="3111500"/>
              <a:chOff x="0" y="0"/>
              <a:chExt cx="10223500" cy="31115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10223500" cy="3111500"/>
              </a:xfrm>
              <a:custGeom>
                <a:avLst/>
                <a:gdLst/>
                <a:ahLst/>
                <a:cxnLst/>
                <a:rect r="r" b="b" t="t" l="l"/>
                <a:pathLst>
                  <a:path h="3111500" w="10223500">
                    <a:moveTo>
                      <a:pt x="0" y="0"/>
                    </a:moveTo>
                    <a:lnTo>
                      <a:pt x="10223500" y="0"/>
                    </a:lnTo>
                    <a:lnTo>
                      <a:pt x="10223500" y="3111500"/>
                    </a:lnTo>
                    <a:lnTo>
                      <a:pt x="0" y="31115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-38100"/>
                <a:ext cx="10223500" cy="3149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38" id="38"/>
            <p:cNvGrpSpPr/>
            <p:nvPr/>
          </p:nvGrpSpPr>
          <p:grpSpPr>
            <a:xfrm rot="0">
              <a:off x="0" y="0"/>
              <a:ext cx="203200" cy="3111500"/>
              <a:chOff x="0" y="0"/>
              <a:chExt cx="203200" cy="311150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203200" cy="3111500"/>
              </a:xfrm>
              <a:custGeom>
                <a:avLst/>
                <a:gdLst/>
                <a:ahLst/>
                <a:cxnLst/>
                <a:rect r="r" b="b" t="t" l="l"/>
                <a:pathLst>
                  <a:path h="3111500" w="203200">
                    <a:moveTo>
                      <a:pt x="0" y="0"/>
                    </a:moveTo>
                    <a:lnTo>
                      <a:pt x="203200" y="0"/>
                    </a:lnTo>
                    <a:lnTo>
                      <a:pt x="203200" y="3111500"/>
                    </a:lnTo>
                    <a:lnTo>
                      <a:pt x="0" y="3111500"/>
                    </a:lnTo>
                    <a:close/>
                  </a:path>
                </a:pathLst>
              </a:custGeom>
              <a:solidFill>
                <a:srgbClr val="29060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0" y="-38100"/>
                <a:ext cx="203200" cy="3149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41" id="41"/>
            <p:cNvSpPr txBox="true"/>
            <p:nvPr/>
          </p:nvSpPr>
          <p:spPr>
            <a:xfrm rot="0">
              <a:off x="508000" y="501650"/>
              <a:ext cx="8890000" cy="5273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83"/>
                </a:lnSpc>
              </a:pPr>
              <a:r>
                <a:rPr lang="en-US" sz="2925" b="true">
                  <a:solidFill>
                    <a:srgbClr val="290606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MODEL 4</a:t>
              </a:r>
            </a:p>
          </p:txBody>
        </p:sp>
        <p:sp>
          <p:nvSpPr>
            <p:cNvPr name="TextBox 42" id="42"/>
            <p:cNvSpPr txBox="true"/>
            <p:nvPr/>
          </p:nvSpPr>
          <p:spPr>
            <a:xfrm rot="0">
              <a:off x="508000" y="1323975"/>
              <a:ext cx="8890000" cy="4138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92"/>
                </a:lnSpc>
              </a:pPr>
              <a:r>
                <a:rPr lang="en-US" sz="2025">
                  <a:solidFill>
                    <a:srgbClr val="290606"/>
                  </a:solidFill>
                  <a:latin typeface="Nunito Sans Expanded"/>
                  <a:ea typeface="Nunito Sans Expanded"/>
                  <a:cs typeface="Nunito Sans Expanded"/>
                  <a:sym typeface="Nunito Sans Expanded"/>
                </a:rPr>
                <a:t>Leaky ReLU + Batch Normalisation</a:t>
              </a: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1714500" y="8553450"/>
            <a:ext cx="14859000" cy="313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6"/>
              </a:lnSpc>
            </a:pPr>
            <a:r>
              <a:rPr lang="en-US" sz="1950">
                <a:solidFill>
                  <a:srgbClr val="075C46"/>
                </a:solidFill>
                <a:latin typeface="Nunito Sans Expanded"/>
                <a:ea typeface="Nunito Sans Expanded"/>
                <a:cs typeface="Nunito Sans Expanded"/>
                <a:sym typeface="Nunito Sans Expanded"/>
              </a:rPr>
              <a:t>Compared as combinations; results do not establish causal certainty for any one change.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857250" y="9725025"/>
            <a:ext cx="16573500" cy="188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b="true" sz="1200" spc="144">
                <a:solidFill>
                  <a:srgbClr val="075C46"/>
                </a:solidFill>
                <a:latin typeface="Nunito Sans Expanded Bold"/>
                <a:ea typeface="Nunito Sans Expanded Bold"/>
                <a:cs typeface="Nunito Sans Expanded Bold"/>
                <a:sym typeface="Nunito Sans Expanded Bold"/>
              </a:rPr>
              <a:t>HANDWRITTEN LETTER RECOGNITION   /   07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5C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57250" y="428625"/>
            <a:ext cx="57150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EEF4F3"/>
                </a:solidFill>
                <a:latin typeface="Nunito Sans Expanded Bold"/>
                <a:ea typeface="Nunito Sans Expanded Bold"/>
                <a:cs typeface="Nunito Sans Expanded Bold"/>
                <a:sym typeface="Nunito Sans Expanded Bold"/>
              </a:rPr>
              <a:t>08  •  DELE CA1 PART 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57250" y="895350"/>
            <a:ext cx="14287500" cy="585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7"/>
              </a:lnSpc>
            </a:pPr>
            <a:r>
              <a:rPr lang="en-US" sz="4350" b="tru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Model Comparison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57250" y="1504950"/>
            <a:ext cx="1143000" cy="66675"/>
            <a:chOff x="0" y="0"/>
            <a:chExt cx="1524000" cy="889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0" cy="88900"/>
            </a:xfrm>
            <a:custGeom>
              <a:avLst/>
              <a:gdLst/>
              <a:ahLst/>
              <a:cxnLst/>
              <a:rect r="r" b="b" t="t" l="l"/>
              <a:pathLst>
                <a:path h="88900" w="1524000">
                  <a:moveTo>
                    <a:pt x="0" y="0"/>
                  </a:moveTo>
                  <a:lnTo>
                    <a:pt x="1524000" y="0"/>
                  </a:lnTo>
                  <a:lnTo>
                    <a:pt x="1524000" y="88900"/>
                  </a:lnTo>
                  <a:lnTo>
                    <a:pt x="0" y="88900"/>
                  </a:lnTo>
                  <a:close/>
                </a:path>
              </a:pathLst>
            </a:custGeom>
            <a:solidFill>
              <a:srgbClr val="FF5722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524000" cy="127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62000" y="2381250"/>
            <a:ext cx="9810750" cy="857250"/>
            <a:chOff x="0" y="0"/>
            <a:chExt cx="13081000" cy="1143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0810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13081000">
                  <a:moveTo>
                    <a:pt x="0" y="0"/>
                  </a:moveTo>
                  <a:lnTo>
                    <a:pt x="13081000" y="0"/>
                  </a:lnTo>
                  <a:lnTo>
                    <a:pt x="13081000" y="1143000"/>
                  </a:lnTo>
                  <a:lnTo>
                    <a:pt x="0" y="1143000"/>
                  </a:lnTo>
                  <a:close/>
                </a:path>
              </a:pathLst>
            </a:custGeom>
            <a:solidFill>
              <a:srgbClr val="290606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3081000" cy="118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62000" y="3381375"/>
            <a:ext cx="9810750" cy="857250"/>
            <a:chOff x="0" y="0"/>
            <a:chExt cx="13081000" cy="1143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0810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13081000">
                  <a:moveTo>
                    <a:pt x="0" y="0"/>
                  </a:moveTo>
                  <a:lnTo>
                    <a:pt x="13081000" y="0"/>
                  </a:lnTo>
                  <a:lnTo>
                    <a:pt x="13081000" y="1143000"/>
                  </a:lnTo>
                  <a:lnTo>
                    <a:pt x="0" y="1143000"/>
                  </a:lnTo>
                  <a:close/>
                </a:path>
              </a:pathLst>
            </a:custGeom>
            <a:solidFill>
              <a:srgbClr val="EEF4F3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3081000" cy="118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62000" y="4381500"/>
            <a:ext cx="9810750" cy="857250"/>
            <a:chOff x="0" y="0"/>
            <a:chExt cx="13081000" cy="1143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30810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13081000">
                  <a:moveTo>
                    <a:pt x="0" y="0"/>
                  </a:moveTo>
                  <a:lnTo>
                    <a:pt x="13081000" y="0"/>
                  </a:lnTo>
                  <a:lnTo>
                    <a:pt x="13081000" y="1143000"/>
                  </a:lnTo>
                  <a:lnTo>
                    <a:pt x="0" y="1143000"/>
                  </a:lnTo>
                  <a:close/>
                </a:path>
              </a:pathLst>
            </a:custGeom>
            <a:solidFill>
              <a:srgbClr val="EEF4F3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3081000" cy="118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62000" y="5381625"/>
            <a:ext cx="9810750" cy="857250"/>
            <a:chOff x="0" y="0"/>
            <a:chExt cx="13081000" cy="1143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0810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13081000">
                  <a:moveTo>
                    <a:pt x="0" y="0"/>
                  </a:moveTo>
                  <a:lnTo>
                    <a:pt x="13081000" y="0"/>
                  </a:lnTo>
                  <a:lnTo>
                    <a:pt x="13081000" y="1143000"/>
                  </a:lnTo>
                  <a:lnTo>
                    <a:pt x="0" y="1143000"/>
                  </a:lnTo>
                  <a:close/>
                </a:path>
              </a:pathLst>
            </a:custGeom>
            <a:solidFill>
              <a:srgbClr val="EEF4F3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3081000" cy="118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62000" y="6381750"/>
            <a:ext cx="9810750" cy="857250"/>
            <a:chOff x="0" y="0"/>
            <a:chExt cx="13081000" cy="1143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30810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13081000">
                  <a:moveTo>
                    <a:pt x="0" y="0"/>
                  </a:moveTo>
                  <a:lnTo>
                    <a:pt x="13081000" y="0"/>
                  </a:lnTo>
                  <a:lnTo>
                    <a:pt x="13081000" y="1143000"/>
                  </a:lnTo>
                  <a:lnTo>
                    <a:pt x="0" y="1143000"/>
                  </a:lnTo>
                  <a:close/>
                </a:path>
              </a:pathLst>
            </a:custGeom>
            <a:solidFill>
              <a:srgbClr val="EEF4F3"/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3081000" cy="118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762000" y="7381875"/>
            <a:ext cx="9810750" cy="857250"/>
            <a:chOff x="0" y="0"/>
            <a:chExt cx="13081000" cy="11430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30810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13081000">
                  <a:moveTo>
                    <a:pt x="0" y="0"/>
                  </a:moveTo>
                  <a:lnTo>
                    <a:pt x="13081000" y="0"/>
                  </a:lnTo>
                  <a:lnTo>
                    <a:pt x="13081000" y="1143000"/>
                  </a:lnTo>
                  <a:lnTo>
                    <a:pt x="0" y="1143000"/>
                  </a:lnTo>
                  <a:close/>
                </a:path>
              </a:pathLst>
            </a:custGeom>
            <a:solidFill>
              <a:srgbClr val="02B676"/>
            </a:solidFill>
            <a:ln cap="sq">
              <a:noFill/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3081000" cy="118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143000" y="2600325"/>
            <a:ext cx="2857500" cy="289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5"/>
              </a:lnSpc>
            </a:pPr>
            <a:r>
              <a:rPr lang="en-US" sz="1725" spc="207" b="true">
                <a:solidFill>
                  <a:srgbClr val="FFFFFF"/>
                </a:solidFill>
                <a:latin typeface="Nunito Sans Expanded Bold"/>
                <a:ea typeface="Nunito Sans Expanded Bold"/>
                <a:cs typeface="Nunito Sans Expanded Bold"/>
                <a:sym typeface="Nunito Sans Expanded Bold"/>
              </a:rPr>
              <a:t>MODEL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286250" y="2590800"/>
            <a:ext cx="3619500" cy="27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575" spc="189" b="true">
                <a:solidFill>
                  <a:srgbClr val="FFFFFF"/>
                </a:solidFill>
                <a:latin typeface="Nunito Sans Expanded Bold"/>
                <a:ea typeface="Nunito Sans Expanded Bold"/>
                <a:cs typeface="Nunito Sans Expanded Bold"/>
                <a:sym typeface="Nunito Sans Expanded Bold"/>
              </a:rPr>
              <a:t>VALIDATION ACCURACY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572500" y="2600325"/>
            <a:ext cx="1428750" cy="289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5"/>
              </a:lnSpc>
            </a:pPr>
            <a:r>
              <a:rPr lang="en-US" sz="1725" spc="207" b="true">
                <a:solidFill>
                  <a:srgbClr val="FFFFFF"/>
                </a:solidFill>
                <a:latin typeface="Nunito Sans Expanded Bold"/>
                <a:ea typeface="Nunito Sans Expanded Bold"/>
                <a:cs typeface="Nunito Sans Expanded Bold"/>
                <a:sym typeface="Nunito Sans Expanded Bold"/>
              </a:rPr>
              <a:t>LOSS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43000" y="3657600"/>
            <a:ext cx="2857500" cy="286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2"/>
              </a:lnSpc>
            </a:pPr>
            <a:r>
              <a:rPr lang="en-US" sz="2100" b="true">
                <a:solidFill>
                  <a:srgbClr val="29060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Baseline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4667250" y="3667125"/>
            <a:ext cx="2286000" cy="310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1"/>
              </a:lnSpc>
            </a:pPr>
            <a:r>
              <a:rPr lang="en-US" sz="2325" b="true">
                <a:solidFill>
                  <a:srgbClr val="7B22E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92.97%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572500" y="3619500"/>
            <a:ext cx="1428750" cy="312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2"/>
              </a:lnSpc>
            </a:pPr>
            <a:r>
              <a:rPr lang="en-US" sz="2025">
                <a:solidFill>
                  <a:srgbClr val="290606"/>
                </a:solidFill>
                <a:latin typeface="Nunito Sans Expanded"/>
                <a:ea typeface="Nunito Sans Expanded"/>
                <a:cs typeface="Nunito Sans Expanded"/>
                <a:sym typeface="Nunito Sans Expanded"/>
              </a:rPr>
              <a:t>0.2119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43000" y="4657725"/>
            <a:ext cx="2857500" cy="286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2"/>
              </a:lnSpc>
            </a:pPr>
            <a:r>
              <a:rPr lang="en-US" sz="2100" b="true">
                <a:solidFill>
                  <a:srgbClr val="29060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Model 1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4667250" y="4667250"/>
            <a:ext cx="2286000" cy="310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1"/>
              </a:lnSpc>
            </a:pPr>
            <a:r>
              <a:rPr lang="en-US" sz="2325" b="true">
                <a:solidFill>
                  <a:srgbClr val="7B22E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93.98%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572500" y="4619625"/>
            <a:ext cx="1428750" cy="312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2"/>
              </a:lnSpc>
            </a:pPr>
            <a:r>
              <a:rPr lang="en-US" sz="2025">
                <a:solidFill>
                  <a:srgbClr val="290606"/>
                </a:solidFill>
                <a:latin typeface="Nunito Sans Expanded"/>
                <a:ea typeface="Nunito Sans Expanded"/>
                <a:cs typeface="Nunito Sans Expanded"/>
                <a:sym typeface="Nunito Sans Expanded"/>
              </a:rPr>
              <a:t>0.2064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43000" y="5657850"/>
            <a:ext cx="2857500" cy="286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2"/>
              </a:lnSpc>
            </a:pPr>
            <a:r>
              <a:rPr lang="en-US" sz="2100" b="true">
                <a:solidFill>
                  <a:srgbClr val="29060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Model 2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4667250" y="5667375"/>
            <a:ext cx="2286000" cy="310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1"/>
              </a:lnSpc>
            </a:pPr>
            <a:r>
              <a:rPr lang="en-US" sz="2325" b="true">
                <a:solidFill>
                  <a:srgbClr val="7B22E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93.89%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8572500" y="5619750"/>
            <a:ext cx="1428750" cy="312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2"/>
              </a:lnSpc>
            </a:pPr>
            <a:r>
              <a:rPr lang="en-US" sz="2025">
                <a:solidFill>
                  <a:srgbClr val="290606"/>
                </a:solidFill>
                <a:latin typeface="Nunito Sans Expanded"/>
                <a:ea typeface="Nunito Sans Expanded"/>
                <a:cs typeface="Nunito Sans Expanded"/>
                <a:sym typeface="Nunito Sans Expanded"/>
              </a:rPr>
              <a:t>0.2156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143000" y="6657975"/>
            <a:ext cx="2857500" cy="286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2"/>
              </a:lnSpc>
            </a:pPr>
            <a:r>
              <a:rPr lang="en-US" sz="2100" b="true">
                <a:solidFill>
                  <a:srgbClr val="29060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Model 3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4667250" y="6667500"/>
            <a:ext cx="2286000" cy="310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1"/>
              </a:lnSpc>
            </a:pPr>
            <a:r>
              <a:rPr lang="en-US" sz="2325" b="true">
                <a:solidFill>
                  <a:srgbClr val="7B22E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93.85%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8572500" y="6619875"/>
            <a:ext cx="1428750" cy="312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2"/>
              </a:lnSpc>
            </a:pPr>
            <a:r>
              <a:rPr lang="en-US" sz="2025">
                <a:solidFill>
                  <a:srgbClr val="290606"/>
                </a:solidFill>
                <a:latin typeface="Nunito Sans Expanded"/>
                <a:ea typeface="Nunito Sans Expanded"/>
                <a:cs typeface="Nunito Sans Expanded"/>
                <a:sym typeface="Nunito Sans Expanded"/>
              </a:rPr>
              <a:t>0.2170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143000" y="7658100"/>
            <a:ext cx="2857500" cy="286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2"/>
              </a:lnSpc>
            </a:pPr>
            <a:r>
              <a:rPr lang="en-US" sz="2100" b="tru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Model 4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4667250" y="7667625"/>
            <a:ext cx="2286000" cy="310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1"/>
              </a:lnSpc>
            </a:pPr>
            <a:r>
              <a:rPr lang="en-US" sz="2325" b="tru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94.34%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8572500" y="7620000"/>
            <a:ext cx="1428750" cy="312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2"/>
              </a:lnSpc>
            </a:pPr>
            <a:r>
              <a:rPr lang="en-US" sz="2025">
                <a:solidFill>
                  <a:srgbClr val="FFFFFF"/>
                </a:solidFill>
                <a:latin typeface="Nunito Sans Expanded"/>
                <a:ea typeface="Nunito Sans Expanded"/>
                <a:cs typeface="Nunito Sans Expanded"/>
                <a:sym typeface="Nunito Sans Expanded"/>
              </a:rPr>
              <a:t>0.1889</a:t>
            </a:r>
          </a:p>
        </p:txBody>
      </p:sp>
      <p:pic>
        <p:nvPicPr>
          <p:cNvPr name="Picture 43" id="4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0834051" y="1964370"/>
            <a:ext cx="6906898" cy="5977259"/>
          </a:xfrm>
          <a:prstGeom prst="rect">
            <a:avLst/>
          </a:prstGeom>
        </p:spPr>
      </p:pic>
      <p:sp>
        <p:nvSpPr>
          <p:cNvPr name="TextBox 44" id="44"/>
          <p:cNvSpPr txBox="true"/>
          <p:nvPr/>
        </p:nvSpPr>
        <p:spPr>
          <a:xfrm rot="0">
            <a:off x="11334750" y="8162925"/>
            <a:ext cx="5905500" cy="925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215" b="true">
                <a:solidFill>
                  <a:srgbClr val="FF5722"/>
                </a:solidFill>
                <a:latin typeface="Nunito Sans Expanded Bold"/>
                <a:ea typeface="Nunito Sans Expanded Bold"/>
                <a:cs typeface="Nunito Sans Expanded Bold"/>
                <a:sym typeface="Nunito Sans Expanded Bold"/>
              </a:rPr>
              <a:t>MODEL 4  •  BEST OF THE INITIAL FOUR  •  SMALL BUT PRESENT GAIN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857250" y="9725025"/>
            <a:ext cx="16573500" cy="188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b="true" sz="1200" spc="144">
                <a:solidFill>
                  <a:srgbClr val="CFE7DF"/>
                </a:solidFill>
                <a:latin typeface="Nunito Sans Expanded Bold"/>
                <a:ea typeface="Nunito Sans Expanded Bold"/>
                <a:cs typeface="Nunito Sans Expanded Bold"/>
                <a:sym typeface="Nunito Sans Expanded Bold"/>
              </a:rPr>
              <a:t>HANDWRITTEN LETTER RECOGNITION   /   08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EE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57250" y="428625"/>
            <a:ext cx="57150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075C46"/>
                </a:solidFill>
                <a:latin typeface="Nunito Sans Expanded Bold"/>
                <a:ea typeface="Nunito Sans Expanded Bold"/>
                <a:cs typeface="Nunito Sans Expanded Bold"/>
                <a:sym typeface="Nunito Sans Expanded Bold"/>
              </a:rPr>
              <a:t>09  •  DELE CA1 PART 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57250" y="895350"/>
            <a:ext cx="14287500" cy="585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7"/>
              </a:lnSpc>
            </a:pPr>
            <a:r>
              <a:rPr lang="en-US" sz="4350" b="true">
                <a:solidFill>
                  <a:srgbClr val="29060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Static Augmentation Results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57250" y="1504950"/>
            <a:ext cx="1143000" cy="66675"/>
            <a:chOff x="0" y="0"/>
            <a:chExt cx="1524000" cy="889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0" cy="88900"/>
            </a:xfrm>
            <a:custGeom>
              <a:avLst/>
              <a:gdLst/>
              <a:ahLst/>
              <a:cxnLst/>
              <a:rect r="r" b="b" t="t" l="l"/>
              <a:pathLst>
                <a:path h="88900" w="1524000">
                  <a:moveTo>
                    <a:pt x="0" y="0"/>
                  </a:moveTo>
                  <a:lnTo>
                    <a:pt x="1524000" y="0"/>
                  </a:lnTo>
                  <a:lnTo>
                    <a:pt x="1524000" y="88900"/>
                  </a:lnTo>
                  <a:lnTo>
                    <a:pt x="0" y="88900"/>
                  </a:lnTo>
                  <a:close/>
                </a:path>
              </a:pathLst>
            </a:custGeom>
            <a:solidFill>
              <a:srgbClr val="FF5722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524000" cy="127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57250" y="4762500"/>
            <a:ext cx="7239000" cy="2857500"/>
            <a:chOff x="0" y="0"/>
            <a:chExt cx="9652000" cy="381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6520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9652000">
                  <a:moveTo>
                    <a:pt x="0" y="0"/>
                  </a:moveTo>
                  <a:lnTo>
                    <a:pt x="9652000" y="0"/>
                  </a:lnTo>
                  <a:lnTo>
                    <a:pt x="9652000" y="3810000"/>
                  </a:lnTo>
                  <a:lnTo>
                    <a:pt x="0" y="3810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9652000" cy="384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239250" y="4762500"/>
            <a:ext cx="7239000" cy="2857500"/>
            <a:chOff x="0" y="0"/>
            <a:chExt cx="9652000" cy="381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6520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9652000">
                  <a:moveTo>
                    <a:pt x="0" y="0"/>
                  </a:moveTo>
                  <a:lnTo>
                    <a:pt x="9652000" y="0"/>
                  </a:lnTo>
                  <a:lnTo>
                    <a:pt x="9652000" y="3810000"/>
                  </a:lnTo>
                  <a:lnTo>
                    <a:pt x="0" y="3810000"/>
                  </a:lnTo>
                  <a:close/>
                </a:path>
              </a:pathLst>
            </a:custGeom>
            <a:solidFill>
              <a:srgbClr val="CFE7DF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9652000" cy="384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143000" y="2381250"/>
            <a:ext cx="6381750" cy="679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7"/>
              </a:lnSpc>
            </a:pPr>
            <a:r>
              <a:rPr lang="en-US" sz="2625" b="true">
                <a:solidFill>
                  <a:srgbClr val="29060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Mild random rotation ±0.05</a:t>
            </a:r>
          </a:p>
          <a:p>
            <a:pPr algn="l">
              <a:lnSpc>
                <a:spcPts val="2677"/>
              </a:lnSpc>
            </a:pPr>
            <a:r>
              <a:rPr lang="en-US" sz="2625" b="true">
                <a:solidFill>
                  <a:srgbClr val="29060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translation ±0.08 · zoom ±0.08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90625" y="3562350"/>
            <a:ext cx="6191250" cy="276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4"/>
              </a:lnSpc>
            </a:pPr>
            <a:r>
              <a:rPr lang="en-US" sz="1800">
                <a:solidFill>
                  <a:srgbClr val="075C46"/>
                </a:solidFill>
                <a:latin typeface="Nunito Sans Expanded"/>
                <a:ea typeface="Nunito Sans Expanded"/>
                <a:cs typeface="Nunito Sans Expanded"/>
                <a:sym typeface="Nunito Sans Expanded"/>
              </a:rPr>
              <a:t>Applied only to training images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76375" y="5400675"/>
            <a:ext cx="4762500" cy="918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61"/>
              </a:lnSpc>
            </a:pPr>
            <a:r>
              <a:rPr lang="en-US" sz="6825" b="true">
                <a:solidFill>
                  <a:srgbClr val="FF572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94.13%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71625" y="6334125"/>
            <a:ext cx="4476750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 spc="225" b="true">
                <a:solidFill>
                  <a:srgbClr val="290606"/>
                </a:solidFill>
                <a:latin typeface="Nunito Sans Expanded Bold"/>
                <a:ea typeface="Nunito Sans Expanded Bold"/>
                <a:cs typeface="Nunito Sans Expanded Bold"/>
                <a:sym typeface="Nunito Sans Expanded Bold"/>
              </a:rPr>
              <a:t>WITH AUGMENTATION</a:t>
            </a:r>
          </a:p>
          <a:p>
            <a:pPr algn="l">
              <a:lnSpc>
                <a:spcPts val="2625"/>
              </a:lnSpc>
            </a:pPr>
            <a:r>
              <a:rPr lang="en-US" sz="1875" spc="225" b="true">
                <a:solidFill>
                  <a:srgbClr val="290606"/>
                </a:solidFill>
                <a:latin typeface="Nunito Sans Expanded Bold"/>
                <a:ea typeface="Nunito Sans Expanded Bold"/>
                <a:cs typeface="Nunito Sans Expanded Bold"/>
                <a:sym typeface="Nunito Sans Expanded Bold"/>
              </a:rPr>
              <a:t>loss 0.1948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953625" y="5400675"/>
            <a:ext cx="4762500" cy="918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61"/>
              </a:lnSpc>
            </a:pPr>
            <a:r>
              <a:rPr lang="en-US" sz="6825" b="true">
                <a:solidFill>
                  <a:srgbClr val="02B67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94.34%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048875" y="6334125"/>
            <a:ext cx="4476750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 spc="225" b="true">
                <a:solidFill>
                  <a:srgbClr val="290606"/>
                </a:solidFill>
                <a:latin typeface="Nunito Sans Expanded Bold"/>
                <a:ea typeface="Nunito Sans Expanded Bold"/>
                <a:cs typeface="Nunito Sans Expanded Bold"/>
                <a:sym typeface="Nunito Sans Expanded Bold"/>
              </a:rPr>
              <a:t>MODEL 4 BASELINE</a:t>
            </a:r>
          </a:p>
          <a:p>
            <a:pPr algn="l">
              <a:lnSpc>
                <a:spcPts val="2625"/>
              </a:lnSpc>
            </a:pPr>
            <a:r>
              <a:rPr lang="en-US" sz="1875" spc="225" b="true">
                <a:solidFill>
                  <a:srgbClr val="290606"/>
                </a:solidFill>
                <a:latin typeface="Nunito Sans Expanded Bold"/>
                <a:ea typeface="Nunito Sans Expanded Bold"/>
                <a:cs typeface="Nunito Sans Expanded Bold"/>
                <a:sym typeface="Nunito Sans Expanded Bold"/>
              </a:rPr>
              <a:t>loss 0.1889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191250" y="8210550"/>
            <a:ext cx="5905500" cy="450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9"/>
              </a:lnSpc>
            </a:pPr>
            <a:r>
              <a:rPr lang="en-US" sz="3450" b="true">
                <a:solidFill>
                  <a:srgbClr val="7B22E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NO IMPROVEMENT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762500" y="8753475"/>
            <a:ext cx="8763000" cy="276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04"/>
              </a:lnSpc>
            </a:pPr>
            <a:r>
              <a:rPr lang="en-US" sz="1800">
                <a:solidFill>
                  <a:srgbClr val="290606"/>
                </a:solidFill>
                <a:latin typeface="Nunito Sans Expanded"/>
                <a:ea typeface="Nunito Sans Expanded"/>
                <a:cs typeface="Nunito Sans Expanded"/>
                <a:sym typeface="Nunito Sans Expanded"/>
              </a:rPr>
              <a:t>Adds data and training cost; static augmentation was not selected.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57250" y="9725025"/>
            <a:ext cx="16573500" cy="188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b="true" sz="1200" spc="144">
                <a:solidFill>
                  <a:srgbClr val="075C46"/>
                </a:solidFill>
                <a:latin typeface="Nunito Sans Expanded Bold"/>
                <a:ea typeface="Nunito Sans Expanded Bold"/>
                <a:cs typeface="Nunito Sans Expanded Bold"/>
                <a:sym typeface="Nunito Sans Expanded Bold"/>
              </a:rPr>
              <a:t>HANDWRITTEN LETTER RECOGNITION   /   09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075C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57250" y="428625"/>
            <a:ext cx="57150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EEF4F3"/>
                </a:solidFill>
                <a:latin typeface="Nunito Sans Expanded Bold"/>
                <a:ea typeface="Nunito Sans Expanded Bold"/>
                <a:cs typeface="Nunito Sans Expanded Bold"/>
                <a:sym typeface="Nunito Sans Expanded Bold"/>
              </a:rPr>
              <a:t>10  •  DELE CA1 PART 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57250" y="895350"/>
            <a:ext cx="14287500" cy="585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7"/>
              </a:lnSpc>
            </a:pPr>
            <a:r>
              <a:rPr lang="en-US" sz="4350" b="tru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Selected Architecture and Dropout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57250" y="1504950"/>
            <a:ext cx="1143000" cy="66675"/>
            <a:chOff x="0" y="0"/>
            <a:chExt cx="1524000" cy="889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0" cy="88900"/>
            </a:xfrm>
            <a:custGeom>
              <a:avLst/>
              <a:gdLst/>
              <a:ahLst/>
              <a:cxnLst/>
              <a:rect r="r" b="b" t="t" l="l"/>
              <a:pathLst>
                <a:path h="88900" w="1524000">
                  <a:moveTo>
                    <a:pt x="0" y="0"/>
                  </a:moveTo>
                  <a:lnTo>
                    <a:pt x="1524000" y="0"/>
                  </a:lnTo>
                  <a:lnTo>
                    <a:pt x="1524000" y="88900"/>
                  </a:lnTo>
                  <a:lnTo>
                    <a:pt x="0" y="88900"/>
                  </a:lnTo>
                  <a:close/>
                </a:path>
              </a:pathLst>
            </a:custGeom>
            <a:solidFill>
              <a:srgbClr val="FF5722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524000" cy="127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19125" y="2286000"/>
            <a:ext cx="1809750" cy="1066800"/>
            <a:chOff x="0" y="0"/>
            <a:chExt cx="2413000" cy="1422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13000" cy="1422400"/>
            </a:xfrm>
            <a:custGeom>
              <a:avLst/>
              <a:gdLst/>
              <a:ahLst/>
              <a:cxnLst/>
              <a:rect r="r" b="b" t="t" l="l"/>
              <a:pathLst>
                <a:path h="1422400" w="2413000">
                  <a:moveTo>
                    <a:pt x="120316" y="0"/>
                  </a:moveTo>
                  <a:lnTo>
                    <a:pt x="2292684" y="0"/>
                  </a:lnTo>
                  <a:cubicBezTo>
                    <a:pt x="2324594" y="0"/>
                    <a:pt x="2355197" y="12676"/>
                    <a:pt x="2377760" y="35240"/>
                  </a:cubicBezTo>
                  <a:cubicBezTo>
                    <a:pt x="2400324" y="57803"/>
                    <a:pt x="2413000" y="88406"/>
                    <a:pt x="2413000" y="120316"/>
                  </a:cubicBezTo>
                  <a:lnTo>
                    <a:pt x="2413000" y="1302084"/>
                  </a:lnTo>
                  <a:cubicBezTo>
                    <a:pt x="2413000" y="1333994"/>
                    <a:pt x="2400324" y="1364597"/>
                    <a:pt x="2377760" y="1387160"/>
                  </a:cubicBezTo>
                  <a:cubicBezTo>
                    <a:pt x="2355197" y="1409724"/>
                    <a:pt x="2324594" y="1422400"/>
                    <a:pt x="2292684" y="1422400"/>
                  </a:cubicBezTo>
                  <a:lnTo>
                    <a:pt x="120316" y="1422400"/>
                  </a:lnTo>
                  <a:cubicBezTo>
                    <a:pt x="88406" y="1422400"/>
                    <a:pt x="57803" y="1409724"/>
                    <a:pt x="35240" y="1387160"/>
                  </a:cubicBezTo>
                  <a:cubicBezTo>
                    <a:pt x="12676" y="1364597"/>
                    <a:pt x="0" y="1333994"/>
                    <a:pt x="0" y="1302084"/>
                  </a:cubicBezTo>
                  <a:lnTo>
                    <a:pt x="0" y="120316"/>
                  </a:lnTo>
                  <a:cubicBezTo>
                    <a:pt x="0" y="88406"/>
                    <a:pt x="12676" y="57803"/>
                    <a:pt x="35240" y="35240"/>
                  </a:cubicBezTo>
                  <a:cubicBezTo>
                    <a:pt x="57803" y="12676"/>
                    <a:pt x="88406" y="0"/>
                    <a:pt x="120316" y="0"/>
                  </a:cubicBezTo>
                  <a:close/>
                </a:path>
              </a:pathLst>
            </a:custGeom>
            <a:solidFill>
              <a:srgbClr val="02B676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28575"/>
              <a:ext cx="2413000" cy="1393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97"/>
                </a:lnSpc>
              </a:pPr>
              <a:r>
                <a:rPr lang="en-US" sz="1725" b="true">
                  <a:solidFill>
                    <a:srgbClr val="FFFFFF"/>
                  </a:solidFill>
                  <a:latin typeface="Nunito Sans Expanded Bold"/>
                  <a:ea typeface="Nunito Sans Expanded Bold"/>
                  <a:cs typeface="Nunito Sans Expanded Bold"/>
                  <a:sym typeface="Nunito Sans Expanded Bold"/>
                </a:rPr>
                <a:t>Conv 32</a:t>
              </a:r>
            </a:p>
            <a:p>
              <a:pPr algn="ctr">
                <a:lnSpc>
                  <a:spcPts val="1897"/>
                </a:lnSpc>
              </a:pPr>
              <a:r>
                <a:rPr lang="en-US" sz="1725" b="true">
                  <a:solidFill>
                    <a:srgbClr val="FFFFFF"/>
                  </a:solidFill>
                  <a:latin typeface="Nunito Sans Expanded Bold"/>
                  <a:ea typeface="Nunito Sans Expanded Bold"/>
                  <a:cs typeface="Nunito Sans Expanded Bold"/>
                  <a:sym typeface="Nunito Sans Expanded Bold"/>
                </a:rPr>
                <a:t>BN · LeakyReLU</a:t>
              </a:r>
            </a:p>
          </p:txBody>
        </p:sp>
      </p:grpSp>
      <p:sp>
        <p:nvSpPr>
          <p:cNvPr name="AutoShape 10" id="10"/>
          <p:cNvSpPr/>
          <p:nvPr/>
        </p:nvSpPr>
        <p:spPr>
          <a:xfrm>
            <a:off x="2447925" y="2819400"/>
            <a:ext cx="266700" cy="0"/>
          </a:xfrm>
          <a:prstGeom prst="line">
            <a:avLst/>
          </a:prstGeom>
          <a:ln cap="flat" w="38100">
            <a:solidFill>
              <a:srgbClr val="EEF4F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2762250" y="2286000"/>
            <a:ext cx="1809750" cy="1066800"/>
            <a:chOff x="0" y="0"/>
            <a:chExt cx="2413000" cy="1422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413000" cy="1422400"/>
            </a:xfrm>
            <a:custGeom>
              <a:avLst/>
              <a:gdLst/>
              <a:ahLst/>
              <a:cxnLst/>
              <a:rect r="r" b="b" t="t" l="l"/>
              <a:pathLst>
                <a:path h="1422400" w="2413000">
                  <a:moveTo>
                    <a:pt x="120316" y="0"/>
                  </a:moveTo>
                  <a:lnTo>
                    <a:pt x="2292684" y="0"/>
                  </a:lnTo>
                  <a:cubicBezTo>
                    <a:pt x="2324594" y="0"/>
                    <a:pt x="2355197" y="12676"/>
                    <a:pt x="2377760" y="35240"/>
                  </a:cubicBezTo>
                  <a:cubicBezTo>
                    <a:pt x="2400324" y="57803"/>
                    <a:pt x="2413000" y="88406"/>
                    <a:pt x="2413000" y="120316"/>
                  </a:cubicBezTo>
                  <a:lnTo>
                    <a:pt x="2413000" y="1302084"/>
                  </a:lnTo>
                  <a:cubicBezTo>
                    <a:pt x="2413000" y="1333994"/>
                    <a:pt x="2400324" y="1364597"/>
                    <a:pt x="2377760" y="1387160"/>
                  </a:cubicBezTo>
                  <a:cubicBezTo>
                    <a:pt x="2355197" y="1409724"/>
                    <a:pt x="2324594" y="1422400"/>
                    <a:pt x="2292684" y="1422400"/>
                  </a:cubicBezTo>
                  <a:lnTo>
                    <a:pt x="120316" y="1422400"/>
                  </a:lnTo>
                  <a:cubicBezTo>
                    <a:pt x="88406" y="1422400"/>
                    <a:pt x="57803" y="1409724"/>
                    <a:pt x="35240" y="1387160"/>
                  </a:cubicBezTo>
                  <a:cubicBezTo>
                    <a:pt x="12676" y="1364597"/>
                    <a:pt x="0" y="1333994"/>
                    <a:pt x="0" y="1302084"/>
                  </a:cubicBezTo>
                  <a:lnTo>
                    <a:pt x="0" y="120316"/>
                  </a:lnTo>
                  <a:cubicBezTo>
                    <a:pt x="0" y="88406"/>
                    <a:pt x="12676" y="57803"/>
                    <a:pt x="35240" y="35240"/>
                  </a:cubicBezTo>
                  <a:cubicBezTo>
                    <a:pt x="57803" y="12676"/>
                    <a:pt x="88406" y="0"/>
                    <a:pt x="120316" y="0"/>
                  </a:cubicBezTo>
                  <a:close/>
                </a:path>
              </a:pathLst>
            </a:custGeom>
            <a:solidFill>
              <a:srgbClr val="02B676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28575"/>
              <a:ext cx="2413000" cy="1393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97"/>
                </a:lnSpc>
              </a:pPr>
              <a:r>
                <a:rPr lang="en-US" sz="1725" b="true">
                  <a:solidFill>
                    <a:srgbClr val="FFFFFF"/>
                  </a:solidFill>
                  <a:latin typeface="Nunito Sans Expanded Bold"/>
                  <a:ea typeface="Nunito Sans Expanded Bold"/>
                  <a:cs typeface="Nunito Sans Expanded Bold"/>
                  <a:sym typeface="Nunito Sans Expanded Bold"/>
                </a:rPr>
                <a:t>MaxPool</a:t>
              </a:r>
            </a:p>
            <a:p>
              <a:pPr algn="ctr">
                <a:lnSpc>
                  <a:spcPts val="1897"/>
                </a:lnSpc>
              </a:pPr>
              <a:r>
                <a:rPr lang="en-US" sz="1725" b="true">
                  <a:solidFill>
                    <a:srgbClr val="FFFFFF"/>
                  </a:solidFill>
                  <a:latin typeface="Nunito Sans Expanded Bold"/>
                  <a:ea typeface="Nunito Sans Expanded Bold"/>
                  <a:cs typeface="Nunito Sans Expanded Bold"/>
                  <a:sym typeface="Nunito Sans Expanded Bold"/>
                </a:rPr>
                <a:t>2×2</a:t>
              </a:r>
            </a:p>
          </p:txBody>
        </p:sp>
      </p:grpSp>
      <p:sp>
        <p:nvSpPr>
          <p:cNvPr name="AutoShape 14" id="14"/>
          <p:cNvSpPr/>
          <p:nvPr/>
        </p:nvSpPr>
        <p:spPr>
          <a:xfrm>
            <a:off x="4591050" y="2819400"/>
            <a:ext cx="266700" cy="0"/>
          </a:xfrm>
          <a:prstGeom prst="line">
            <a:avLst/>
          </a:prstGeom>
          <a:ln cap="flat" w="38100">
            <a:solidFill>
              <a:srgbClr val="EEF4F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5" id="15"/>
          <p:cNvGrpSpPr/>
          <p:nvPr/>
        </p:nvGrpSpPr>
        <p:grpSpPr>
          <a:xfrm rot="0">
            <a:off x="4905375" y="2286000"/>
            <a:ext cx="1809750" cy="1066800"/>
            <a:chOff x="0" y="0"/>
            <a:chExt cx="2413000" cy="1422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413000" cy="1422400"/>
            </a:xfrm>
            <a:custGeom>
              <a:avLst/>
              <a:gdLst/>
              <a:ahLst/>
              <a:cxnLst/>
              <a:rect r="r" b="b" t="t" l="l"/>
              <a:pathLst>
                <a:path h="1422400" w="2413000">
                  <a:moveTo>
                    <a:pt x="120316" y="0"/>
                  </a:moveTo>
                  <a:lnTo>
                    <a:pt x="2292684" y="0"/>
                  </a:lnTo>
                  <a:cubicBezTo>
                    <a:pt x="2324594" y="0"/>
                    <a:pt x="2355197" y="12676"/>
                    <a:pt x="2377760" y="35240"/>
                  </a:cubicBezTo>
                  <a:cubicBezTo>
                    <a:pt x="2400324" y="57803"/>
                    <a:pt x="2413000" y="88406"/>
                    <a:pt x="2413000" y="120316"/>
                  </a:cubicBezTo>
                  <a:lnTo>
                    <a:pt x="2413000" y="1302084"/>
                  </a:lnTo>
                  <a:cubicBezTo>
                    <a:pt x="2413000" y="1333994"/>
                    <a:pt x="2400324" y="1364597"/>
                    <a:pt x="2377760" y="1387160"/>
                  </a:cubicBezTo>
                  <a:cubicBezTo>
                    <a:pt x="2355197" y="1409724"/>
                    <a:pt x="2324594" y="1422400"/>
                    <a:pt x="2292684" y="1422400"/>
                  </a:cubicBezTo>
                  <a:lnTo>
                    <a:pt x="120316" y="1422400"/>
                  </a:lnTo>
                  <a:cubicBezTo>
                    <a:pt x="88406" y="1422400"/>
                    <a:pt x="57803" y="1409724"/>
                    <a:pt x="35240" y="1387160"/>
                  </a:cubicBezTo>
                  <a:cubicBezTo>
                    <a:pt x="12676" y="1364597"/>
                    <a:pt x="0" y="1333994"/>
                    <a:pt x="0" y="1302084"/>
                  </a:cubicBezTo>
                  <a:lnTo>
                    <a:pt x="0" y="120316"/>
                  </a:lnTo>
                  <a:cubicBezTo>
                    <a:pt x="0" y="88406"/>
                    <a:pt x="12676" y="57803"/>
                    <a:pt x="35240" y="35240"/>
                  </a:cubicBezTo>
                  <a:cubicBezTo>
                    <a:pt x="57803" y="12676"/>
                    <a:pt x="88406" y="0"/>
                    <a:pt x="120316" y="0"/>
                  </a:cubicBezTo>
                  <a:close/>
                </a:path>
              </a:pathLst>
            </a:custGeom>
            <a:solidFill>
              <a:srgbClr val="02B676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28575"/>
              <a:ext cx="2413000" cy="1393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97"/>
                </a:lnSpc>
              </a:pPr>
              <a:r>
                <a:rPr lang="en-US" sz="1725" b="true">
                  <a:solidFill>
                    <a:srgbClr val="FFFFFF"/>
                  </a:solidFill>
                  <a:latin typeface="Nunito Sans Expanded Bold"/>
                  <a:ea typeface="Nunito Sans Expanded Bold"/>
                  <a:cs typeface="Nunito Sans Expanded Bold"/>
                  <a:sym typeface="Nunito Sans Expanded Bold"/>
                </a:rPr>
                <a:t>Conv 64</a:t>
              </a:r>
            </a:p>
            <a:p>
              <a:pPr algn="ctr">
                <a:lnSpc>
                  <a:spcPts val="1897"/>
                </a:lnSpc>
              </a:pPr>
              <a:r>
                <a:rPr lang="en-US" sz="1725" b="true">
                  <a:solidFill>
                    <a:srgbClr val="FFFFFF"/>
                  </a:solidFill>
                  <a:latin typeface="Nunito Sans Expanded Bold"/>
                  <a:ea typeface="Nunito Sans Expanded Bold"/>
                  <a:cs typeface="Nunito Sans Expanded Bold"/>
                  <a:sym typeface="Nunito Sans Expanded Bold"/>
                </a:rPr>
                <a:t>BN · LeakyReLU</a:t>
              </a:r>
            </a:p>
          </p:txBody>
        </p:sp>
      </p:grpSp>
      <p:sp>
        <p:nvSpPr>
          <p:cNvPr name="AutoShape 18" id="18"/>
          <p:cNvSpPr/>
          <p:nvPr/>
        </p:nvSpPr>
        <p:spPr>
          <a:xfrm>
            <a:off x="6734175" y="2819400"/>
            <a:ext cx="266700" cy="0"/>
          </a:xfrm>
          <a:prstGeom prst="line">
            <a:avLst/>
          </a:prstGeom>
          <a:ln cap="flat" w="38100">
            <a:solidFill>
              <a:srgbClr val="EEF4F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9" id="19"/>
          <p:cNvGrpSpPr/>
          <p:nvPr/>
        </p:nvGrpSpPr>
        <p:grpSpPr>
          <a:xfrm rot="0">
            <a:off x="7048500" y="2286000"/>
            <a:ext cx="1809750" cy="1066800"/>
            <a:chOff x="0" y="0"/>
            <a:chExt cx="2413000" cy="14224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413000" cy="1422400"/>
            </a:xfrm>
            <a:custGeom>
              <a:avLst/>
              <a:gdLst/>
              <a:ahLst/>
              <a:cxnLst/>
              <a:rect r="r" b="b" t="t" l="l"/>
              <a:pathLst>
                <a:path h="1422400" w="2413000">
                  <a:moveTo>
                    <a:pt x="120316" y="0"/>
                  </a:moveTo>
                  <a:lnTo>
                    <a:pt x="2292684" y="0"/>
                  </a:lnTo>
                  <a:cubicBezTo>
                    <a:pt x="2324594" y="0"/>
                    <a:pt x="2355197" y="12676"/>
                    <a:pt x="2377760" y="35240"/>
                  </a:cubicBezTo>
                  <a:cubicBezTo>
                    <a:pt x="2400324" y="57803"/>
                    <a:pt x="2413000" y="88406"/>
                    <a:pt x="2413000" y="120316"/>
                  </a:cubicBezTo>
                  <a:lnTo>
                    <a:pt x="2413000" y="1302084"/>
                  </a:lnTo>
                  <a:cubicBezTo>
                    <a:pt x="2413000" y="1333994"/>
                    <a:pt x="2400324" y="1364597"/>
                    <a:pt x="2377760" y="1387160"/>
                  </a:cubicBezTo>
                  <a:cubicBezTo>
                    <a:pt x="2355197" y="1409724"/>
                    <a:pt x="2324594" y="1422400"/>
                    <a:pt x="2292684" y="1422400"/>
                  </a:cubicBezTo>
                  <a:lnTo>
                    <a:pt x="120316" y="1422400"/>
                  </a:lnTo>
                  <a:cubicBezTo>
                    <a:pt x="88406" y="1422400"/>
                    <a:pt x="57803" y="1409724"/>
                    <a:pt x="35240" y="1387160"/>
                  </a:cubicBezTo>
                  <a:cubicBezTo>
                    <a:pt x="12676" y="1364597"/>
                    <a:pt x="0" y="1333994"/>
                    <a:pt x="0" y="1302084"/>
                  </a:cubicBezTo>
                  <a:lnTo>
                    <a:pt x="0" y="120316"/>
                  </a:lnTo>
                  <a:cubicBezTo>
                    <a:pt x="0" y="88406"/>
                    <a:pt x="12676" y="57803"/>
                    <a:pt x="35240" y="35240"/>
                  </a:cubicBezTo>
                  <a:cubicBezTo>
                    <a:pt x="57803" y="12676"/>
                    <a:pt x="88406" y="0"/>
                    <a:pt x="120316" y="0"/>
                  </a:cubicBezTo>
                  <a:close/>
                </a:path>
              </a:pathLst>
            </a:custGeom>
            <a:solidFill>
              <a:srgbClr val="02B676"/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28575"/>
              <a:ext cx="2413000" cy="1393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97"/>
                </a:lnSpc>
              </a:pPr>
              <a:r>
                <a:rPr lang="en-US" sz="1725" b="true">
                  <a:solidFill>
                    <a:srgbClr val="FFFFFF"/>
                  </a:solidFill>
                  <a:latin typeface="Nunito Sans Expanded Bold"/>
                  <a:ea typeface="Nunito Sans Expanded Bold"/>
                  <a:cs typeface="Nunito Sans Expanded Bold"/>
                  <a:sym typeface="Nunito Sans Expanded Bold"/>
                </a:rPr>
                <a:t>MaxPool</a:t>
              </a:r>
            </a:p>
            <a:p>
              <a:pPr algn="ctr">
                <a:lnSpc>
                  <a:spcPts val="1897"/>
                </a:lnSpc>
              </a:pPr>
              <a:r>
                <a:rPr lang="en-US" sz="1725" b="true">
                  <a:solidFill>
                    <a:srgbClr val="FFFFFF"/>
                  </a:solidFill>
                  <a:latin typeface="Nunito Sans Expanded Bold"/>
                  <a:ea typeface="Nunito Sans Expanded Bold"/>
                  <a:cs typeface="Nunito Sans Expanded Bold"/>
                  <a:sym typeface="Nunito Sans Expanded Bold"/>
                </a:rPr>
                <a:t>2×2</a:t>
              </a:r>
            </a:p>
          </p:txBody>
        </p:sp>
      </p:grpSp>
      <p:sp>
        <p:nvSpPr>
          <p:cNvPr name="AutoShape 22" id="22"/>
          <p:cNvSpPr/>
          <p:nvPr/>
        </p:nvSpPr>
        <p:spPr>
          <a:xfrm>
            <a:off x="8877300" y="2819400"/>
            <a:ext cx="266700" cy="0"/>
          </a:xfrm>
          <a:prstGeom prst="line">
            <a:avLst/>
          </a:prstGeom>
          <a:ln cap="flat" w="38100">
            <a:solidFill>
              <a:srgbClr val="EEF4F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3" id="23"/>
          <p:cNvGrpSpPr/>
          <p:nvPr/>
        </p:nvGrpSpPr>
        <p:grpSpPr>
          <a:xfrm rot="0">
            <a:off x="9191625" y="2286000"/>
            <a:ext cx="1809750" cy="1066800"/>
            <a:chOff x="0" y="0"/>
            <a:chExt cx="2413000" cy="14224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413000" cy="1422400"/>
            </a:xfrm>
            <a:custGeom>
              <a:avLst/>
              <a:gdLst/>
              <a:ahLst/>
              <a:cxnLst/>
              <a:rect r="r" b="b" t="t" l="l"/>
              <a:pathLst>
                <a:path h="1422400" w="2413000">
                  <a:moveTo>
                    <a:pt x="120316" y="0"/>
                  </a:moveTo>
                  <a:lnTo>
                    <a:pt x="2292684" y="0"/>
                  </a:lnTo>
                  <a:cubicBezTo>
                    <a:pt x="2324594" y="0"/>
                    <a:pt x="2355197" y="12676"/>
                    <a:pt x="2377760" y="35240"/>
                  </a:cubicBezTo>
                  <a:cubicBezTo>
                    <a:pt x="2400324" y="57803"/>
                    <a:pt x="2413000" y="88406"/>
                    <a:pt x="2413000" y="120316"/>
                  </a:cubicBezTo>
                  <a:lnTo>
                    <a:pt x="2413000" y="1302084"/>
                  </a:lnTo>
                  <a:cubicBezTo>
                    <a:pt x="2413000" y="1333994"/>
                    <a:pt x="2400324" y="1364597"/>
                    <a:pt x="2377760" y="1387160"/>
                  </a:cubicBezTo>
                  <a:cubicBezTo>
                    <a:pt x="2355197" y="1409724"/>
                    <a:pt x="2324594" y="1422400"/>
                    <a:pt x="2292684" y="1422400"/>
                  </a:cubicBezTo>
                  <a:lnTo>
                    <a:pt x="120316" y="1422400"/>
                  </a:lnTo>
                  <a:cubicBezTo>
                    <a:pt x="88406" y="1422400"/>
                    <a:pt x="57803" y="1409724"/>
                    <a:pt x="35240" y="1387160"/>
                  </a:cubicBezTo>
                  <a:cubicBezTo>
                    <a:pt x="12676" y="1364597"/>
                    <a:pt x="0" y="1333994"/>
                    <a:pt x="0" y="1302084"/>
                  </a:cubicBezTo>
                  <a:lnTo>
                    <a:pt x="0" y="120316"/>
                  </a:lnTo>
                  <a:cubicBezTo>
                    <a:pt x="0" y="88406"/>
                    <a:pt x="12676" y="57803"/>
                    <a:pt x="35240" y="35240"/>
                  </a:cubicBezTo>
                  <a:cubicBezTo>
                    <a:pt x="57803" y="12676"/>
                    <a:pt x="88406" y="0"/>
                    <a:pt x="120316" y="0"/>
                  </a:cubicBezTo>
                  <a:close/>
                </a:path>
              </a:pathLst>
            </a:custGeom>
            <a:solidFill>
              <a:srgbClr val="FF5722"/>
            </a:solidFill>
            <a:ln cap="sq">
              <a:noFill/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28575"/>
              <a:ext cx="2413000" cy="1393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97"/>
                </a:lnSpc>
              </a:pPr>
              <a:r>
                <a:rPr lang="en-US" sz="1725" b="true">
                  <a:solidFill>
                    <a:srgbClr val="FFFFFF"/>
                  </a:solidFill>
                  <a:latin typeface="Nunito Sans Expanded Bold"/>
                  <a:ea typeface="Nunito Sans Expanded Bold"/>
                  <a:cs typeface="Nunito Sans Expanded Bold"/>
                  <a:sym typeface="Nunito Sans Expanded Bold"/>
                </a:rPr>
                <a:t>Dropout</a:t>
              </a:r>
            </a:p>
            <a:p>
              <a:pPr algn="ctr">
                <a:lnSpc>
                  <a:spcPts val="1897"/>
                </a:lnSpc>
              </a:pPr>
              <a:r>
                <a:rPr lang="en-US" sz="1725" b="true">
                  <a:solidFill>
                    <a:srgbClr val="FFFFFF"/>
                  </a:solidFill>
                  <a:latin typeface="Nunito Sans Expanded Bold"/>
                  <a:ea typeface="Nunito Sans Expanded Bold"/>
                  <a:cs typeface="Nunito Sans Expanded Bold"/>
                  <a:sym typeface="Nunito Sans Expanded Bold"/>
                </a:rPr>
                <a:t>0.35</a:t>
              </a:r>
            </a:p>
          </p:txBody>
        </p:sp>
      </p:grpSp>
      <p:sp>
        <p:nvSpPr>
          <p:cNvPr name="AutoShape 26" id="26"/>
          <p:cNvSpPr/>
          <p:nvPr/>
        </p:nvSpPr>
        <p:spPr>
          <a:xfrm>
            <a:off x="11020425" y="2819400"/>
            <a:ext cx="266700" cy="0"/>
          </a:xfrm>
          <a:prstGeom prst="line">
            <a:avLst/>
          </a:prstGeom>
          <a:ln cap="flat" w="38100">
            <a:solidFill>
              <a:srgbClr val="EEF4F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7" id="27"/>
          <p:cNvGrpSpPr/>
          <p:nvPr/>
        </p:nvGrpSpPr>
        <p:grpSpPr>
          <a:xfrm rot="0">
            <a:off x="11334750" y="2286000"/>
            <a:ext cx="1809750" cy="1066800"/>
            <a:chOff x="0" y="0"/>
            <a:chExt cx="2413000" cy="14224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413000" cy="1422400"/>
            </a:xfrm>
            <a:custGeom>
              <a:avLst/>
              <a:gdLst/>
              <a:ahLst/>
              <a:cxnLst/>
              <a:rect r="r" b="b" t="t" l="l"/>
              <a:pathLst>
                <a:path h="1422400" w="2413000">
                  <a:moveTo>
                    <a:pt x="120316" y="0"/>
                  </a:moveTo>
                  <a:lnTo>
                    <a:pt x="2292684" y="0"/>
                  </a:lnTo>
                  <a:cubicBezTo>
                    <a:pt x="2324594" y="0"/>
                    <a:pt x="2355197" y="12676"/>
                    <a:pt x="2377760" y="35240"/>
                  </a:cubicBezTo>
                  <a:cubicBezTo>
                    <a:pt x="2400324" y="57803"/>
                    <a:pt x="2413000" y="88406"/>
                    <a:pt x="2413000" y="120316"/>
                  </a:cubicBezTo>
                  <a:lnTo>
                    <a:pt x="2413000" y="1302084"/>
                  </a:lnTo>
                  <a:cubicBezTo>
                    <a:pt x="2413000" y="1333994"/>
                    <a:pt x="2400324" y="1364597"/>
                    <a:pt x="2377760" y="1387160"/>
                  </a:cubicBezTo>
                  <a:cubicBezTo>
                    <a:pt x="2355197" y="1409724"/>
                    <a:pt x="2324594" y="1422400"/>
                    <a:pt x="2292684" y="1422400"/>
                  </a:cubicBezTo>
                  <a:lnTo>
                    <a:pt x="120316" y="1422400"/>
                  </a:lnTo>
                  <a:cubicBezTo>
                    <a:pt x="88406" y="1422400"/>
                    <a:pt x="57803" y="1409724"/>
                    <a:pt x="35240" y="1387160"/>
                  </a:cubicBezTo>
                  <a:cubicBezTo>
                    <a:pt x="12676" y="1364597"/>
                    <a:pt x="0" y="1333994"/>
                    <a:pt x="0" y="1302084"/>
                  </a:cubicBezTo>
                  <a:lnTo>
                    <a:pt x="0" y="120316"/>
                  </a:lnTo>
                  <a:cubicBezTo>
                    <a:pt x="0" y="88406"/>
                    <a:pt x="12676" y="57803"/>
                    <a:pt x="35240" y="35240"/>
                  </a:cubicBezTo>
                  <a:cubicBezTo>
                    <a:pt x="57803" y="12676"/>
                    <a:pt x="88406" y="0"/>
                    <a:pt x="120316" y="0"/>
                  </a:cubicBezTo>
                  <a:close/>
                </a:path>
              </a:pathLst>
            </a:custGeom>
            <a:solidFill>
              <a:srgbClr val="02B676"/>
            </a:solidFill>
            <a:ln cap="sq">
              <a:noFill/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28575"/>
              <a:ext cx="2413000" cy="1393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97"/>
                </a:lnSpc>
              </a:pPr>
              <a:r>
                <a:rPr lang="en-US" sz="1725" b="true">
                  <a:solidFill>
                    <a:srgbClr val="FFFFFF"/>
                  </a:solidFill>
                  <a:latin typeface="Nunito Sans Expanded Bold"/>
                  <a:ea typeface="Nunito Sans Expanded Bold"/>
                  <a:cs typeface="Nunito Sans Expanded Bold"/>
                  <a:sym typeface="Nunito Sans Expanded Bold"/>
                </a:rPr>
                <a:t>Dense 384</a:t>
              </a:r>
            </a:p>
            <a:p>
              <a:pPr algn="ctr">
                <a:lnSpc>
                  <a:spcPts val="1897"/>
                </a:lnSpc>
              </a:pPr>
              <a:r>
                <a:rPr lang="en-US" sz="1725" b="true">
                  <a:solidFill>
                    <a:srgbClr val="FFFFFF"/>
                  </a:solidFill>
                  <a:latin typeface="Nunito Sans Expanded Bold"/>
                  <a:ea typeface="Nunito Sans Expanded Bold"/>
                  <a:cs typeface="Nunito Sans Expanded Bold"/>
                  <a:sym typeface="Nunito Sans Expanded Bold"/>
                </a:rPr>
                <a:t>BN · LeakyReLU</a:t>
              </a:r>
            </a:p>
          </p:txBody>
        </p:sp>
      </p:grpSp>
      <p:sp>
        <p:nvSpPr>
          <p:cNvPr name="AutoShape 30" id="30"/>
          <p:cNvSpPr/>
          <p:nvPr/>
        </p:nvSpPr>
        <p:spPr>
          <a:xfrm>
            <a:off x="13163550" y="2819400"/>
            <a:ext cx="266700" cy="0"/>
          </a:xfrm>
          <a:prstGeom prst="line">
            <a:avLst/>
          </a:prstGeom>
          <a:ln cap="flat" w="38100">
            <a:solidFill>
              <a:srgbClr val="EEF4F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1" id="31"/>
          <p:cNvGrpSpPr/>
          <p:nvPr/>
        </p:nvGrpSpPr>
        <p:grpSpPr>
          <a:xfrm rot="0">
            <a:off x="13477875" y="2286000"/>
            <a:ext cx="1809750" cy="1066800"/>
            <a:chOff x="0" y="0"/>
            <a:chExt cx="2413000" cy="14224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413000" cy="1422400"/>
            </a:xfrm>
            <a:custGeom>
              <a:avLst/>
              <a:gdLst/>
              <a:ahLst/>
              <a:cxnLst/>
              <a:rect r="r" b="b" t="t" l="l"/>
              <a:pathLst>
                <a:path h="1422400" w="2413000">
                  <a:moveTo>
                    <a:pt x="120316" y="0"/>
                  </a:moveTo>
                  <a:lnTo>
                    <a:pt x="2292684" y="0"/>
                  </a:lnTo>
                  <a:cubicBezTo>
                    <a:pt x="2324594" y="0"/>
                    <a:pt x="2355197" y="12676"/>
                    <a:pt x="2377760" y="35240"/>
                  </a:cubicBezTo>
                  <a:cubicBezTo>
                    <a:pt x="2400324" y="57803"/>
                    <a:pt x="2413000" y="88406"/>
                    <a:pt x="2413000" y="120316"/>
                  </a:cubicBezTo>
                  <a:lnTo>
                    <a:pt x="2413000" y="1302084"/>
                  </a:lnTo>
                  <a:cubicBezTo>
                    <a:pt x="2413000" y="1333994"/>
                    <a:pt x="2400324" y="1364597"/>
                    <a:pt x="2377760" y="1387160"/>
                  </a:cubicBezTo>
                  <a:cubicBezTo>
                    <a:pt x="2355197" y="1409724"/>
                    <a:pt x="2324594" y="1422400"/>
                    <a:pt x="2292684" y="1422400"/>
                  </a:cubicBezTo>
                  <a:lnTo>
                    <a:pt x="120316" y="1422400"/>
                  </a:lnTo>
                  <a:cubicBezTo>
                    <a:pt x="88406" y="1422400"/>
                    <a:pt x="57803" y="1409724"/>
                    <a:pt x="35240" y="1387160"/>
                  </a:cubicBezTo>
                  <a:cubicBezTo>
                    <a:pt x="12676" y="1364597"/>
                    <a:pt x="0" y="1333994"/>
                    <a:pt x="0" y="1302084"/>
                  </a:cubicBezTo>
                  <a:lnTo>
                    <a:pt x="0" y="120316"/>
                  </a:lnTo>
                  <a:cubicBezTo>
                    <a:pt x="0" y="88406"/>
                    <a:pt x="12676" y="57803"/>
                    <a:pt x="35240" y="35240"/>
                  </a:cubicBezTo>
                  <a:cubicBezTo>
                    <a:pt x="57803" y="12676"/>
                    <a:pt x="88406" y="0"/>
                    <a:pt x="120316" y="0"/>
                  </a:cubicBezTo>
                  <a:close/>
                </a:path>
              </a:pathLst>
            </a:custGeom>
            <a:solidFill>
              <a:srgbClr val="FF5722"/>
            </a:solidFill>
            <a:ln cap="sq">
              <a:noFill/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28575"/>
              <a:ext cx="2413000" cy="1393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97"/>
                </a:lnSpc>
              </a:pPr>
              <a:r>
                <a:rPr lang="en-US" sz="1725" b="true">
                  <a:solidFill>
                    <a:srgbClr val="FFFFFF"/>
                  </a:solidFill>
                  <a:latin typeface="Nunito Sans Expanded Bold"/>
                  <a:ea typeface="Nunito Sans Expanded Bold"/>
                  <a:cs typeface="Nunito Sans Expanded Bold"/>
                  <a:sym typeface="Nunito Sans Expanded Bold"/>
                </a:rPr>
                <a:t>Dropout</a:t>
              </a:r>
            </a:p>
            <a:p>
              <a:pPr algn="ctr">
                <a:lnSpc>
                  <a:spcPts val="1897"/>
                </a:lnSpc>
              </a:pPr>
              <a:r>
                <a:rPr lang="en-US" sz="1725" b="true">
                  <a:solidFill>
                    <a:srgbClr val="FFFFFF"/>
                  </a:solidFill>
                  <a:latin typeface="Nunito Sans Expanded Bold"/>
                  <a:ea typeface="Nunito Sans Expanded Bold"/>
                  <a:cs typeface="Nunito Sans Expanded Bold"/>
                  <a:sym typeface="Nunito Sans Expanded Bold"/>
                </a:rPr>
                <a:t>0.40</a:t>
              </a:r>
            </a:p>
          </p:txBody>
        </p:sp>
      </p:grpSp>
      <p:sp>
        <p:nvSpPr>
          <p:cNvPr name="AutoShape 34" id="34"/>
          <p:cNvSpPr/>
          <p:nvPr/>
        </p:nvSpPr>
        <p:spPr>
          <a:xfrm>
            <a:off x="15306675" y="2819400"/>
            <a:ext cx="266700" cy="0"/>
          </a:xfrm>
          <a:prstGeom prst="line">
            <a:avLst/>
          </a:prstGeom>
          <a:ln cap="flat" w="38100">
            <a:solidFill>
              <a:srgbClr val="EEF4F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5" id="35"/>
          <p:cNvGrpSpPr/>
          <p:nvPr/>
        </p:nvGrpSpPr>
        <p:grpSpPr>
          <a:xfrm rot="0">
            <a:off x="15621000" y="2286000"/>
            <a:ext cx="1809750" cy="1066800"/>
            <a:chOff x="0" y="0"/>
            <a:chExt cx="2413000" cy="14224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413000" cy="1422400"/>
            </a:xfrm>
            <a:custGeom>
              <a:avLst/>
              <a:gdLst/>
              <a:ahLst/>
              <a:cxnLst/>
              <a:rect r="r" b="b" t="t" l="l"/>
              <a:pathLst>
                <a:path h="1422400" w="2413000">
                  <a:moveTo>
                    <a:pt x="120316" y="0"/>
                  </a:moveTo>
                  <a:lnTo>
                    <a:pt x="2292684" y="0"/>
                  </a:lnTo>
                  <a:cubicBezTo>
                    <a:pt x="2324594" y="0"/>
                    <a:pt x="2355197" y="12676"/>
                    <a:pt x="2377760" y="35240"/>
                  </a:cubicBezTo>
                  <a:cubicBezTo>
                    <a:pt x="2400324" y="57803"/>
                    <a:pt x="2413000" y="88406"/>
                    <a:pt x="2413000" y="120316"/>
                  </a:cubicBezTo>
                  <a:lnTo>
                    <a:pt x="2413000" y="1302084"/>
                  </a:lnTo>
                  <a:cubicBezTo>
                    <a:pt x="2413000" y="1333994"/>
                    <a:pt x="2400324" y="1364597"/>
                    <a:pt x="2377760" y="1387160"/>
                  </a:cubicBezTo>
                  <a:cubicBezTo>
                    <a:pt x="2355197" y="1409724"/>
                    <a:pt x="2324594" y="1422400"/>
                    <a:pt x="2292684" y="1422400"/>
                  </a:cubicBezTo>
                  <a:lnTo>
                    <a:pt x="120316" y="1422400"/>
                  </a:lnTo>
                  <a:cubicBezTo>
                    <a:pt x="88406" y="1422400"/>
                    <a:pt x="57803" y="1409724"/>
                    <a:pt x="35240" y="1387160"/>
                  </a:cubicBezTo>
                  <a:cubicBezTo>
                    <a:pt x="12676" y="1364597"/>
                    <a:pt x="0" y="1333994"/>
                    <a:pt x="0" y="1302084"/>
                  </a:cubicBezTo>
                  <a:lnTo>
                    <a:pt x="0" y="120316"/>
                  </a:lnTo>
                  <a:cubicBezTo>
                    <a:pt x="0" y="88406"/>
                    <a:pt x="12676" y="57803"/>
                    <a:pt x="35240" y="35240"/>
                  </a:cubicBezTo>
                  <a:cubicBezTo>
                    <a:pt x="57803" y="12676"/>
                    <a:pt x="88406" y="0"/>
                    <a:pt x="120316" y="0"/>
                  </a:cubicBezTo>
                  <a:close/>
                </a:path>
              </a:pathLst>
            </a:custGeom>
            <a:solidFill>
              <a:srgbClr val="7B22E8"/>
            </a:solidFill>
            <a:ln cap="sq">
              <a:noFill/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28575"/>
              <a:ext cx="2413000" cy="1393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97"/>
                </a:lnSpc>
              </a:pPr>
              <a:r>
                <a:rPr lang="en-US" sz="1725" b="true">
                  <a:solidFill>
                    <a:srgbClr val="FFFFFF"/>
                  </a:solidFill>
                  <a:latin typeface="Nunito Sans Expanded Bold"/>
                  <a:ea typeface="Nunito Sans Expanded Bold"/>
                  <a:cs typeface="Nunito Sans Expanded Bold"/>
                  <a:sym typeface="Nunito Sans Expanded Bold"/>
                </a:rPr>
                <a:t>Dense 26</a:t>
              </a:r>
            </a:p>
            <a:p>
              <a:pPr algn="ctr">
                <a:lnSpc>
                  <a:spcPts val="1897"/>
                </a:lnSpc>
              </a:pPr>
              <a:r>
                <a:rPr lang="en-US" sz="1725" b="true">
                  <a:solidFill>
                    <a:srgbClr val="FFFFFF"/>
                  </a:solidFill>
                  <a:latin typeface="Nunito Sans Expanded Bold"/>
                  <a:ea typeface="Nunito Sans Expanded Bold"/>
                  <a:cs typeface="Nunito Sans Expanded Bold"/>
                  <a:sym typeface="Nunito Sans Expanded Bold"/>
                </a:rPr>
                <a:t>softmax</a:t>
              </a: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1047750" y="4467225"/>
            <a:ext cx="5524500" cy="1099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62"/>
              </a:lnSpc>
            </a:pPr>
            <a:r>
              <a:rPr lang="en-US" sz="8100" b="true">
                <a:solidFill>
                  <a:srgbClr val="FF572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94.43%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143000" y="5514975"/>
            <a:ext cx="5429250" cy="312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2"/>
              </a:lnSpc>
            </a:pPr>
            <a:r>
              <a:rPr lang="en-US" sz="2025">
                <a:solidFill>
                  <a:srgbClr val="FFFFFF"/>
                </a:solidFill>
                <a:latin typeface="Nunito Sans Expanded"/>
                <a:ea typeface="Nunito Sans Expanded"/>
                <a:cs typeface="Nunito Sans Expanded"/>
                <a:sym typeface="Nunito Sans Expanded"/>
              </a:rPr>
              <a:t>tuned validation accuracy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7239000" y="4457700"/>
            <a:ext cx="4381500" cy="919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38"/>
              </a:lnSpc>
            </a:pPr>
            <a:r>
              <a:rPr lang="en-US" sz="6900" b="true">
                <a:solidFill>
                  <a:srgbClr val="7B22E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0.1798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7334250" y="5514975"/>
            <a:ext cx="4095750" cy="312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2"/>
              </a:lnSpc>
            </a:pPr>
            <a:r>
              <a:rPr lang="en-US" sz="2025">
                <a:solidFill>
                  <a:srgbClr val="FFFFFF"/>
                </a:solidFill>
                <a:latin typeface="Nunito Sans Expanded"/>
                <a:ea typeface="Nunito Sans Expanded"/>
                <a:cs typeface="Nunito Sans Expanded"/>
                <a:sym typeface="Nunito Sans Expanded"/>
              </a:rPr>
              <a:t>validation loss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143000" y="6753225"/>
            <a:ext cx="10001250" cy="988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8"/>
              </a:lnSpc>
            </a:pPr>
            <a:r>
              <a:rPr lang="en-US" sz="2100">
                <a:solidFill>
                  <a:srgbClr val="CFE7DF"/>
                </a:solidFill>
                <a:latin typeface="Nunito Sans Expanded"/>
                <a:ea typeface="Nunito Sans Expanded"/>
                <a:cs typeface="Nunito Sans Expanded"/>
                <a:sym typeface="Nunito Sans Expanded"/>
              </a:rPr>
              <a:t>Adam + sparse categorical crossentropy</a:t>
            </a:r>
          </a:p>
          <a:p>
            <a:pPr algn="l">
              <a:lnSpc>
                <a:spcPts val="2688"/>
              </a:lnSpc>
            </a:pPr>
            <a:r>
              <a:rPr lang="en-US" sz="2100">
                <a:solidFill>
                  <a:srgbClr val="CFE7DF"/>
                </a:solidFill>
                <a:latin typeface="Nunito Sans Expanded"/>
                <a:ea typeface="Nunito Sans Expanded"/>
                <a:cs typeface="Nunito Sans Expanded"/>
                <a:sym typeface="Nunito Sans Expanded"/>
              </a:rPr>
              <a:t>EarlyStopping: val_loss, patience 3, restore best weights</a:t>
            </a:r>
          </a:p>
          <a:p>
            <a:pPr algn="l">
              <a:lnSpc>
                <a:spcPts val="2688"/>
              </a:lnSpc>
            </a:pPr>
            <a:r>
              <a:rPr lang="en-US" sz="2100">
                <a:solidFill>
                  <a:srgbClr val="CFE7DF"/>
                </a:solidFill>
                <a:latin typeface="Nunito Sans Expanded"/>
                <a:ea typeface="Nunito Sans Expanded"/>
                <a:cs typeface="Nunito Sans Expanded"/>
                <a:sym typeface="Nunito Sans Expanded"/>
              </a:rPr>
              <a:t>Max 30 epochs · batch size 200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12477750" y="6096000"/>
            <a:ext cx="4762500" cy="2000250"/>
            <a:chOff x="0" y="0"/>
            <a:chExt cx="6350000" cy="26670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350000" cy="2667000"/>
            </a:xfrm>
            <a:custGeom>
              <a:avLst/>
              <a:gdLst/>
              <a:ahLst/>
              <a:cxnLst/>
              <a:rect r="r" b="b" t="t" l="l"/>
              <a:pathLst>
                <a:path h="2667000" w="6350000">
                  <a:moveTo>
                    <a:pt x="0" y="0"/>
                  </a:moveTo>
                  <a:lnTo>
                    <a:pt x="6350000" y="0"/>
                  </a:lnTo>
                  <a:lnTo>
                    <a:pt x="6350000" y="2667000"/>
                  </a:lnTo>
                  <a:lnTo>
                    <a:pt x="0" y="2667000"/>
                  </a:lnTo>
                  <a:close/>
                </a:path>
              </a:pathLst>
            </a:custGeom>
            <a:solidFill>
              <a:srgbClr val="7B22E8"/>
            </a:solidFill>
            <a:ln cap="sq">
              <a:noFill/>
              <a:prstDash val="solid"/>
              <a:miter/>
            </a:ln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6350000" cy="270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13049250" y="6391275"/>
            <a:ext cx="3714750" cy="752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83"/>
              </a:lnSpc>
            </a:pPr>
            <a:r>
              <a:rPr lang="en-US" sz="2925" b="tru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FINAL MODEL</a:t>
            </a:r>
          </a:p>
          <a:p>
            <a:pPr algn="ctr">
              <a:lnSpc>
                <a:spcPts val="2983"/>
              </a:lnSpc>
            </a:pPr>
            <a:r>
              <a:rPr lang="en-US" sz="2925" b="tru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rebuilt + retrained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857250" y="9725025"/>
            <a:ext cx="16573500" cy="188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b="true" sz="1200" spc="144">
                <a:solidFill>
                  <a:srgbClr val="CFE7DF"/>
                </a:solidFill>
                <a:latin typeface="Nunito Sans Expanded Bold"/>
                <a:ea typeface="Nunito Sans Expanded Bold"/>
                <a:cs typeface="Nunito Sans Expanded Bold"/>
                <a:sym typeface="Nunito Sans Expanded Bold"/>
              </a:rPr>
              <a:t>HANDWRITTEN LETTER RECOGNITION   /   10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57250" y="428625"/>
            <a:ext cx="57150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075C46"/>
                </a:solidFill>
                <a:latin typeface="Nunito Sans Expanded Bold"/>
                <a:ea typeface="Nunito Sans Expanded Bold"/>
                <a:cs typeface="Nunito Sans Expanded Bold"/>
                <a:sym typeface="Nunito Sans Expanded Bold"/>
              </a:rPr>
              <a:t>11  •  DELE CA1 PART 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57250" y="895350"/>
            <a:ext cx="14287500" cy="585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7"/>
              </a:lnSpc>
            </a:pPr>
            <a:r>
              <a:rPr lang="en-US" sz="4350" b="true">
                <a:solidFill>
                  <a:srgbClr val="29060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Final Test Results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57250" y="1504950"/>
            <a:ext cx="1143000" cy="66675"/>
            <a:chOff x="0" y="0"/>
            <a:chExt cx="1524000" cy="889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0" cy="88900"/>
            </a:xfrm>
            <a:custGeom>
              <a:avLst/>
              <a:gdLst/>
              <a:ahLst/>
              <a:cxnLst/>
              <a:rect r="r" b="b" t="t" l="l"/>
              <a:pathLst>
                <a:path h="88900" w="1524000">
                  <a:moveTo>
                    <a:pt x="0" y="0"/>
                  </a:moveTo>
                  <a:lnTo>
                    <a:pt x="1524000" y="0"/>
                  </a:lnTo>
                  <a:lnTo>
                    <a:pt x="1524000" y="88900"/>
                  </a:lnTo>
                  <a:lnTo>
                    <a:pt x="0" y="88900"/>
                  </a:lnTo>
                  <a:close/>
                </a:path>
              </a:pathLst>
            </a:custGeom>
            <a:solidFill>
              <a:srgbClr val="FF5722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524000" cy="127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857250" y="2400300"/>
            <a:ext cx="6667500" cy="1262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62"/>
              </a:lnSpc>
            </a:pPr>
            <a:r>
              <a:rPr lang="en-US" sz="9375" b="true">
                <a:solidFill>
                  <a:srgbClr val="02B67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94.16%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00125" y="3571875"/>
            <a:ext cx="476250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 spc="225" b="true">
                <a:solidFill>
                  <a:srgbClr val="290606"/>
                </a:solidFill>
                <a:latin typeface="Nunito Sans Expanded Bold"/>
                <a:ea typeface="Nunito Sans Expanded Bold"/>
                <a:cs typeface="Nunito Sans Expanded Bold"/>
                <a:sym typeface="Nunito Sans Expanded Bold"/>
              </a:rPr>
              <a:t>TEST ACCURACY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572500" y="2476500"/>
            <a:ext cx="4000500" cy="813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0"/>
              </a:lnSpc>
            </a:pPr>
            <a:r>
              <a:rPr lang="en-US" sz="6000" b="true">
                <a:solidFill>
                  <a:srgbClr val="FF572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5.84%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667750" y="3305175"/>
            <a:ext cx="333375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215" b="true">
                <a:solidFill>
                  <a:srgbClr val="290606"/>
                </a:solidFill>
                <a:latin typeface="Nunito Sans Expanded Bold"/>
                <a:ea typeface="Nunito Sans Expanded Bold"/>
                <a:cs typeface="Nunito Sans Expanded Bold"/>
                <a:sym typeface="Nunito Sans Expanded Bold"/>
              </a:rPr>
              <a:t>ERROR RATE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239750" y="2466975"/>
            <a:ext cx="3714750" cy="733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08"/>
              </a:lnSpc>
            </a:pPr>
            <a:r>
              <a:rPr lang="en-US" sz="5400" b="true">
                <a:solidFill>
                  <a:srgbClr val="7B22E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0.1763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335000" y="3305175"/>
            <a:ext cx="285750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215" b="true">
                <a:solidFill>
                  <a:srgbClr val="290606"/>
                </a:solidFill>
                <a:latin typeface="Nunito Sans Expanded Bold"/>
                <a:ea typeface="Nunito Sans Expanded Bold"/>
                <a:cs typeface="Nunito Sans Expanded Bold"/>
                <a:sym typeface="Nunito Sans Expanded Bold"/>
              </a:rPr>
              <a:t>TEST LOSS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47750" y="5095875"/>
            <a:ext cx="7143750" cy="699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4"/>
              </a:lnSpc>
            </a:pPr>
            <a:r>
              <a:rPr lang="en-US" sz="2700" b="true">
                <a:solidFill>
                  <a:srgbClr val="29060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17,760 total samples</a:t>
            </a:r>
          </a:p>
          <a:p>
            <a:pPr algn="l">
              <a:lnSpc>
                <a:spcPts val="2754"/>
              </a:lnSpc>
            </a:pPr>
            <a:r>
              <a:rPr lang="en-US" sz="2700" b="true">
                <a:solidFill>
                  <a:srgbClr val="29060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16,723 correct  •  1,037 wrong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47750" y="6657975"/>
            <a:ext cx="6667500" cy="1284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2"/>
              </a:lnSpc>
            </a:pPr>
            <a:r>
              <a:rPr lang="en-US" sz="2025">
                <a:solidFill>
                  <a:srgbClr val="075C46"/>
                </a:solidFill>
                <a:latin typeface="Nunito Sans Expanded"/>
                <a:ea typeface="Nunito Sans Expanded"/>
                <a:cs typeface="Nunito Sans Expanded"/>
                <a:sym typeface="Nunito Sans Expanded"/>
              </a:rPr>
              <a:t>Macro precision  0.9423</a:t>
            </a:r>
          </a:p>
          <a:p>
            <a:pPr algn="l">
              <a:lnSpc>
                <a:spcPts val="2592"/>
              </a:lnSpc>
            </a:pPr>
            <a:r>
              <a:rPr lang="en-US" sz="2025">
                <a:solidFill>
                  <a:srgbClr val="075C46"/>
                </a:solidFill>
                <a:latin typeface="Nunito Sans Expanded"/>
                <a:ea typeface="Nunito Sans Expanded"/>
                <a:cs typeface="Nunito Sans Expanded"/>
                <a:sym typeface="Nunito Sans Expanded"/>
              </a:rPr>
              <a:t>Macro recall      0.9416</a:t>
            </a:r>
          </a:p>
          <a:p>
            <a:pPr algn="l">
              <a:lnSpc>
                <a:spcPts val="2592"/>
              </a:lnSpc>
            </a:pPr>
            <a:r>
              <a:rPr lang="en-US" sz="2025">
                <a:solidFill>
                  <a:srgbClr val="075C46"/>
                </a:solidFill>
                <a:latin typeface="Nunito Sans Expanded"/>
                <a:ea typeface="Nunito Sans Expanded"/>
                <a:cs typeface="Nunito Sans Expanded"/>
                <a:sym typeface="Nunito Sans Expanded"/>
              </a:rPr>
              <a:t>F1-score          0.9418</a:t>
            </a:r>
          </a:p>
          <a:p>
            <a:pPr algn="l">
              <a:lnSpc>
                <a:spcPts val="2592"/>
              </a:lnSpc>
            </a:pPr>
            <a:r>
              <a:rPr lang="en-US" sz="2025">
                <a:solidFill>
                  <a:srgbClr val="075C46"/>
                </a:solidFill>
                <a:latin typeface="Nunito Sans Expanded"/>
                <a:ea typeface="Nunito Sans Expanded"/>
                <a:cs typeface="Nunito Sans Expanded"/>
                <a:sym typeface="Nunito Sans Expanded"/>
              </a:rPr>
              <a:t>Weighted F1       0.9418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47750" y="8820150"/>
            <a:ext cx="809625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98" b="true">
                <a:solidFill>
                  <a:srgbClr val="7B22E8"/>
                </a:solidFill>
                <a:latin typeface="Nunito Sans Expanded Bold"/>
                <a:ea typeface="Nunito Sans Expanded Bold"/>
                <a:cs typeface="Nunito Sans Expanded Bold"/>
                <a:sym typeface="Nunito Sans Expanded Bold"/>
              </a:rPr>
              <a:t>Validation and test metrics are kept separate.</a:t>
            </a:r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9175432" y="4375706"/>
            <a:ext cx="8319137" cy="4964589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857250" y="9725025"/>
            <a:ext cx="16573500" cy="188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b="true" sz="1200" spc="144">
                <a:solidFill>
                  <a:srgbClr val="075C46"/>
                </a:solidFill>
                <a:latin typeface="Nunito Sans Expanded Bold"/>
                <a:ea typeface="Nunito Sans Expanded Bold"/>
                <a:cs typeface="Nunito Sans Expanded Bold"/>
                <a:sym typeface="Nunito Sans Expanded Bold"/>
              </a:rPr>
              <a:t>HANDWRITTEN LETTER RECOGNITION   /   11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5C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57250" y="428625"/>
            <a:ext cx="57150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EEF4F3"/>
                </a:solidFill>
                <a:latin typeface="Nunito Sans Expanded Bold"/>
                <a:ea typeface="Nunito Sans Expanded Bold"/>
                <a:cs typeface="Nunito Sans Expanded Bold"/>
                <a:sym typeface="Nunito Sans Expanded Bold"/>
              </a:rPr>
              <a:t>12  •  DELE CA1 PART 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57250" y="895350"/>
            <a:ext cx="14287500" cy="585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7"/>
              </a:lnSpc>
            </a:pPr>
            <a:r>
              <a:rPr lang="en-US" sz="4350" b="tru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Class Performance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57250" y="1504950"/>
            <a:ext cx="1143000" cy="66675"/>
            <a:chOff x="0" y="0"/>
            <a:chExt cx="1524000" cy="889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0" cy="88900"/>
            </a:xfrm>
            <a:custGeom>
              <a:avLst/>
              <a:gdLst/>
              <a:ahLst/>
              <a:cxnLst/>
              <a:rect r="r" b="b" t="t" l="l"/>
              <a:pathLst>
                <a:path h="88900" w="1524000">
                  <a:moveTo>
                    <a:pt x="0" y="0"/>
                  </a:moveTo>
                  <a:lnTo>
                    <a:pt x="1524000" y="0"/>
                  </a:lnTo>
                  <a:lnTo>
                    <a:pt x="1524000" y="88900"/>
                  </a:lnTo>
                  <a:lnTo>
                    <a:pt x="0" y="88900"/>
                  </a:lnTo>
                  <a:close/>
                </a:path>
              </a:pathLst>
            </a:custGeom>
            <a:solidFill>
              <a:srgbClr val="FF5722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524000" cy="127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62293" y="1208818"/>
            <a:ext cx="12697586" cy="8536114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12668250" y="2743200"/>
            <a:ext cx="4000500" cy="1147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7"/>
              </a:lnSpc>
            </a:pPr>
            <a:r>
              <a:rPr lang="en-US" sz="4350" b="true">
                <a:solidFill>
                  <a:srgbClr val="FF572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  73.72%</a:t>
            </a:r>
          </a:p>
          <a:p>
            <a:pPr algn="l">
              <a:lnSpc>
                <a:spcPts val="4437"/>
              </a:lnSpc>
            </a:pPr>
            <a:r>
              <a:rPr lang="en-US" sz="4350" b="true">
                <a:solidFill>
                  <a:srgbClr val="FF572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  79.65%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763500" y="4086225"/>
            <a:ext cx="3333750" cy="276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4"/>
              </a:lnSpc>
            </a:pPr>
            <a:r>
              <a:rPr lang="en-US" sz="1800">
                <a:solidFill>
                  <a:srgbClr val="CFE7DF"/>
                </a:solidFill>
                <a:latin typeface="Nunito Sans Expanded"/>
                <a:ea typeface="Nunito Sans Expanded"/>
                <a:cs typeface="Nunito Sans Expanded"/>
                <a:sym typeface="Nunito Sans Expanded"/>
              </a:rPr>
              <a:t>weakest recall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668250" y="5219700"/>
            <a:ext cx="4191000" cy="585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7"/>
              </a:lnSpc>
            </a:pPr>
            <a:r>
              <a:rPr lang="en-US" sz="4350" b="true">
                <a:solidFill>
                  <a:srgbClr val="02B67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  98.97%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763500" y="5895975"/>
            <a:ext cx="3333750" cy="276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4"/>
              </a:lnSpc>
            </a:pPr>
            <a:r>
              <a:rPr lang="en-US" sz="1800">
                <a:solidFill>
                  <a:srgbClr val="CFE7DF"/>
                </a:solidFill>
                <a:latin typeface="Nunito Sans Expanded"/>
                <a:ea typeface="Nunito Sans Expanded"/>
                <a:cs typeface="Nunito Sans Expanded"/>
                <a:sym typeface="Nunito Sans Expanded"/>
              </a:rPr>
              <a:t>strong example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382500" y="7077075"/>
            <a:ext cx="4476750" cy="1570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sz="1950">
                <a:solidFill>
                  <a:srgbClr val="FFFFFF"/>
                </a:solidFill>
                <a:latin typeface="Nunito Sans Expanded"/>
                <a:ea typeface="Nunito Sans Expanded"/>
                <a:cs typeface="Nunito Sans Expanded"/>
                <a:sym typeface="Nunito Sans Expanded"/>
              </a:rPr>
              <a:t>“Class accuracy” in the notebook means recall within the true class—not global accuracy. Similar handwritten shapes are hardest.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57250" y="9725025"/>
            <a:ext cx="16573500" cy="188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b="true" sz="1200" spc="144">
                <a:solidFill>
                  <a:srgbClr val="CFE7DF"/>
                </a:solidFill>
                <a:latin typeface="Nunito Sans Expanded Bold"/>
                <a:ea typeface="Nunito Sans Expanded Bold"/>
                <a:cs typeface="Nunito Sans Expanded Bold"/>
                <a:sym typeface="Nunito Sans Expanded Bold"/>
              </a:rPr>
              <a:t>HANDWRITTEN LETTER RECOGNITION   /   12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EE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57250" y="428625"/>
            <a:ext cx="57150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075C46"/>
                </a:solidFill>
                <a:latin typeface="Nunito Sans Expanded Bold"/>
                <a:ea typeface="Nunito Sans Expanded Bold"/>
                <a:cs typeface="Nunito Sans Expanded Bold"/>
                <a:sym typeface="Nunito Sans Expanded Bold"/>
              </a:rPr>
              <a:t>13  •  DELE CA1 PART 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57250" y="895350"/>
            <a:ext cx="14287500" cy="585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7"/>
              </a:lnSpc>
            </a:pPr>
            <a:r>
              <a:rPr lang="en-US" sz="4350" b="true">
                <a:solidFill>
                  <a:srgbClr val="29060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Actual Confused Pairs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57250" y="1504950"/>
            <a:ext cx="1143000" cy="66675"/>
            <a:chOff x="0" y="0"/>
            <a:chExt cx="1524000" cy="889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0" cy="88900"/>
            </a:xfrm>
            <a:custGeom>
              <a:avLst/>
              <a:gdLst/>
              <a:ahLst/>
              <a:cxnLst/>
              <a:rect r="r" b="b" t="t" l="l"/>
              <a:pathLst>
                <a:path h="88900" w="1524000">
                  <a:moveTo>
                    <a:pt x="0" y="0"/>
                  </a:moveTo>
                  <a:lnTo>
                    <a:pt x="1524000" y="0"/>
                  </a:lnTo>
                  <a:lnTo>
                    <a:pt x="1524000" y="88900"/>
                  </a:lnTo>
                  <a:lnTo>
                    <a:pt x="0" y="88900"/>
                  </a:lnTo>
                  <a:close/>
                </a:path>
              </a:pathLst>
            </a:custGeom>
            <a:solidFill>
              <a:srgbClr val="FF5722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524000" cy="127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47750" y="2619375"/>
            <a:ext cx="1428750" cy="1047750"/>
            <a:chOff x="0" y="0"/>
            <a:chExt cx="1905000" cy="1397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05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1905000">
                  <a:moveTo>
                    <a:pt x="152400" y="0"/>
                  </a:moveTo>
                  <a:lnTo>
                    <a:pt x="1752600" y="0"/>
                  </a:lnTo>
                  <a:cubicBezTo>
                    <a:pt x="1836768" y="0"/>
                    <a:pt x="1905000" y="68232"/>
                    <a:pt x="1905000" y="152400"/>
                  </a:cubicBezTo>
                  <a:lnTo>
                    <a:pt x="1905000" y="1244600"/>
                  </a:lnTo>
                  <a:cubicBezTo>
                    <a:pt x="1905000" y="1328768"/>
                    <a:pt x="1836768" y="1397000"/>
                    <a:pt x="1752600" y="1397000"/>
                  </a:cubicBezTo>
                  <a:lnTo>
                    <a:pt x="152400" y="1397000"/>
                  </a:lnTo>
                  <a:cubicBezTo>
                    <a:pt x="68232" y="1397000"/>
                    <a:pt x="0" y="1328768"/>
                    <a:pt x="0" y="12446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290606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28575"/>
              <a:ext cx="1905000" cy="1368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97"/>
                </a:lnSpc>
              </a:pPr>
              <a:r>
                <a:rPr lang="en-US" sz="1725" b="true">
                  <a:solidFill>
                    <a:srgbClr val="FFFFFF"/>
                  </a:solidFill>
                  <a:latin typeface="Nunito Sans Expanded Bold"/>
                  <a:ea typeface="Nunito Sans Expanded Bold"/>
                  <a:cs typeface="Nunito Sans Expanded Bold"/>
                  <a:sym typeface="Nunito Sans Expanded Bold"/>
                </a:rPr>
                <a:t>I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953000" y="2619375"/>
            <a:ext cx="1428750" cy="1047750"/>
            <a:chOff x="0" y="0"/>
            <a:chExt cx="1905000" cy="1397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05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1905000">
                  <a:moveTo>
                    <a:pt x="152400" y="0"/>
                  </a:moveTo>
                  <a:lnTo>
                    <a:pt x="1752600" y="0"/>
                  </a:lnTo>
                  <a:cubicBezTo>
                    <a:pt x="1836768" y="0"/>
                    <a:pt x="1905000" y="68232"/>
                    <a:pt x="1905000" y="152400"/>
                  </a:cubicBezTo>
                  <a:lnTo>
                    <a:pt x="1905000" y="1244600"/>
                  </a:lnTo>
                  <a:cubicBezTo>
                    <a:pt x="1905000" y="1328768"/>
                    <a:pt x="1836768" y="1397000"/>
                    <a:pt x="1752600" y="1397000"/>
                  </a:cubicBezTo>
                  <a:lnTo>
                    <a:pt x="152400" y="1397000"/>
                  </a:lnTo>
                  <a:cubicBezTo>
                    <a:pt x="68232" y="1397000"/>
                    <a:pt x="0" y="1328768"/>
                    <a:pt x="0" y="12446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7B22E8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28575"/>
              <a:ext cx="1905000" cy="1368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97"/>
                </a:lnSpc>
              </a:pPr>
              <a:r>
                <a:rPr lang="en-US" sz="1725" b="true">
                  <a:solidFill>
                    <a:srgbClr val="FFFFFF"/>
                  </a:solidFill>
                  <a:latin typeface="Nunito Sans Expanded Bold"/>
                  <a:ea typeface="Nunito Sans Expanded Bold"/>
                  <a:cs typeface="Nunito Sans Expanded Bold"/>
                  <a:sym typeface="Nunito Sans Expanded Bold"/>
                </a:rPr>
                <a:t>L</a:t>
              </a:r>
            </a:p>
          </p:txBody>
        </p:sp>
      </p:grpSp>
      <p:sp>
        <p:nvSpPr>
          <p:cNvPr name="AutoShape 13" id="13"/>
          <p:cNvSpPr/>
          <p:nvPr/>
        </p:nvSpPr>
        <p:spPr>
          <a:xfrm>
            <a:off x="2619375" y="3143250"/>
            <a:ext cx="2190750" cy="0"/>
          </a:xfrm>
          <a:prstGeom prst="line">
            <a:avLst/>
          </a:prstGeom>
          <a:ln cap="rnd" w="57150">
            <a:solidFill>
              <a:srgbClr val="02B67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6667500" y="2619375"/>
            <a:ext cx="1428750" cy="1047750"/>
            <a:chOff x="0" y="0"/>
            <a:chExt cx="1905000" cy="1397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05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1905000">
                  <a:moveTo>
                    <a:pt x="152400" y="0"/>
                  </a:moveTo>
                  <a:lnTo>
                    <a:pt x="1752600" y="0"/>
                  </a:lnTo>
                  <a:cubicBezTo>
                    <a:pt x="1836768" y="0"/>
                    <a:pt x="1905000" y="68232"/>
                    <a:pt x="1905000" y="152400"/>
                  </a:cubicBezTo>
                  <a:lnTo>
                    <a:pt x="1905000" y="1244600"/>
                  </a:lnTo>
                  <a:cubicBezTo>
                    <a:pt x="1905000" y="1328768"/>
                    <a:pt x="1836768" y="1397000"/>
                    <a:pt x="1752600" y="1397000"/>
                  </a:cubicBezTo>
                  <a:lnTo>
                    <a:pt x="152400" y="1397000"/>
                  </a:lnTo>
                  <a:cubicBezTo>
                    <a:pt x="68232" y="1397000"/>
                    <a:pt x="0" y="1328768"/>
                    <a:pt x="0" y="12446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290606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28575"/>
              <a:ext cx="1905000" cy="1368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97"/>
                </a:lnSpc>
              </a:pPr>
              <a:r>
                <a:rPr lang="en-US" sz="1725" b="true">
                  <a:solidFill>
                    <a:srgbClr val="FFFFFF"/>
                  </a:solidFill>
                  <a:latin typeface="Nunito Sans Expanded Bold"/>
                  <a:ea typeface="Nunito Sans Expanded Bold"/>
                  <a:cs typeface="Nunito Sans Expanded Bold"/>
                  <a:sym typeface="Nunito Sans Expanded Bold"/>
                </a:rPr>
                <a:t>L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572750" y="2619375"/>
            <a:ext cx="1428750" cy="1047750"/>
            <a:chOff x="0" y="0"/>
            <a:chExt cx="1905000" cy="1397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05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1905000">
                  <a:moveTo>
                    <a:pt x="152400" y="0"/>
                  </a:moveTo>
                  <a:lnTo>
                    <a:pt x="1752600" y="0"/>
                  </a:lnTo>
                  <a:cubicBezTo>
                    <a:pt x="1836768" y="0"/>
                    <a:pt x="1905000" y="68232"/>
                    <a:pt x="1905000" y="152400"/>
                  </a:cubicBezTo>
                  <a:lnTo>
                    <a:pt x="1905000" y="1244600"/>
                  </a:lnTo>
                  <a:cubicBezTo>
                    <a:pt x="1905000" y="1328768"/>
                    <a:pt x="1836768" y="1397000"/>
                    <a:pt x="1752600" y="1397000"/>
                  </a:cubicBezTo>
                  <a:lnTo>
                    <a:pt x="152400" y="1397000"/>
                  </a:lnTo>
                  <a:cubicBezTo>
                    <a:pt x="68232" y="1397000"/>
                    <a:pt x="0" y="1328768"/>
                    <a:pt x="0" y="12446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7B22E8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28575"/>
              <a:ext cx="1905000" cy="1368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97"/>
                </a:lnSpc>
              </a:pPr>
              <a:r>
                <a:rPr lang="en-US" sz="1725" b="true">
                  <a:solidFill>
                    <a:srgbClr val="FFFFFF"/>
                  </a:solidFill>
                  <a:latin typeface="Nunito Sans Expanded Bold"/>
                  <a:ea typeface="Nunito Sans Expanded Bold"/>
                  <a:cs typeface="Nunito Sans Expanded Bold"/>
                  <a:sym typeface="Nunito Sans Expanded Bold"/>
                </a:rPr>
                <a:t>I</a:t>
              </a:r>
            </a:p>
          </p:txBody>
        </p:sp>
      </p:grpSp>
      <p:sp>
        <p:nvSpPr>
          <p:cNvPr name="AutoShape 20" id="20"/>
          <p:cNvSpPr/>
          <p:nvPr/>
        </p:nvSpPr>
        <p:spPr>
          <a:xfrm>
            <a:off x="8239125" y="3143250"/>
            <a:ext cx="2190750" cy="0"/>
          </a:xfrm>
          <a:prstGeom prst="line">
            <a:avLst/>
          </a:prstGeom>
          <a:ln cap="rnd" w="57150">
            <a:solidFill>
              <a:srgbClr val="02B67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1" id="21"/>
          <p:cNvGrpSpPr/>
          <p:nvPr/>
        </p:nvGrpSpPr>
        <p:grpSpPr>
          <a:xfrm rot="0">
            <a:off x="12287250" y="2619375"/>
            <a:ext cx="1428750" cy="1047750"/>
            <a:chOff x="0" y="0"/>
            <a:chExt cx="1905000" cy="1397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905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1905000">
                  <a:moveTo>
                    <a:pt x="152400" y="0"/>
                  </a:moveTo>
                  <a:lnTo>
                    <a:pt x="1752600" y="0"/>
                  </a:lnTo>
                  <a:cubicBezTo>
                    <a:pt x="1836768" y="0"/>
                    <a:pt x="1905000" y="68232"/>
                    <a:pt x="1905000" y="152400"/>
                  </a:cubicBezTo>
                  <a:lnTo>
                    <a:pt x="1905000" y="1244600"/>
                  </a:lnTo>
                  <a:cubicBezTo>
                    <a:pt x="1905000" y="1328768"/>
                    <a:pt x="1836768" y="1397000"/>
                    <a:pt x="1752600" y="1397000"/>
                  </a:cubicBezTo>
                  <a:lnTo>
                    <a:pt x="152400" y="1397000"/>
                  </a:lnTo>
                  <a:cubicBezTo>
                    <a:pt x="68232" y="1397000"/>
                    <a:pt x="0" y="1328768"/>
                    <a:pt x="0" y="12446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290606"/>
            </a:solidFill>
            <a:ln cap="sq">
              <a:noFill/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28575"/>
              <a:ext cx="1905000" cy="1368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97"/>
                </a:lnSpc>
              </a:pPr>
              <a:r>
                <a:rPr lang="en-US" sz="1725" b="true">
                  <a:solidFill>
                    <a:srgbClr val="FFFFFF"/>
                  </a:solidFill>
                  <a:latin typeface="Nunito Sans Expanded Bold"/>
                  <a:ea typeface="Nunito Sans Expanded Bold"/>
                  <a:cs typeface="Nunito Sans Expanded Bold"/>
                  <a:sym typeface="Nunito Sans Expanded Bold"/>
                </a:rPr>
                <a:t>G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6192500" y="2619375"/>
            <a:ext cx="1428750" cy="1047750"/>
            <a:chOff x="0" y="0"/>
            <a:chExt cx="1905000" cy="1397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905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1905000">
                  <a:moveTo>
                    <a:pt x="152400" y="0"/>
                  </a:moveTo>
                  <a:lnTo>
                    <a:pt x="1752600" y="0"/>
                  </a:lnTo>
                  <a:cubicBezTo>
                    <a:pt x="1836768" y="0"/>
                    <a:pt x="1905000" y="68232"/>
                    <a:pt x="1905000" y="152400"/>
                  </a:cubicBezTo>
                  <a:lnTo>
                    <a:pt x="1905000" y="1244600"/>
                  </a:lnTo>
                  <a:cubicBezTo>
                    <a:pt x="1905000" y="1328768"/>
                    <a:pt x="1836768" y="1397000"/>
                    <a:pt x="1752600" y="1397000"/>
                  </a:cubicBezTo>
                  <a:lnTo>
                    <a:pt x="152400" y="1397000"/>
                  </a:lnTo>
                  <a:cubicBezTo>
                    <a:pt x="68232" y="1397000"/>
                    <a:pt x="0" y="1328768"/>
                    <a:pt x="0" y="12446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7B22E8"/>
            </a:solidFill>
            <a:ln cap="sq">
              <a:noFill/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28575"/>
              <a:ext cx="1905000" cy="1368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97"/>
                </a:lnSpc>
              </a:pPr>
              <a:r>
                <a:rPr lang="en-US" sz="1725" b="true">
                  <a:solidFill>
                    <a:srgbClr val="FFFFFF"/>
                  </a:solidFill>
                  <a:latin typeface="Nunito Sans Expanded Bold"/>
                  <a:ea typeface="Nunito Sans Expanded Bold"/>
                  <a:cs typeface="Nunito Sans Expanded Bold"/>
                  <a:sym typeface="Nunito Sans Expanded Bold"/>
                </a:rPr>
                <a:t>Q</a:t>
              </a:r>
            </a:p>
          </p:txBody>
        </p:sp>
      </p:grpSp>
      <p:sp>
        <p:nvSpPr>
          <p:cNvPr name="AutoShape 27" id="27"/>
          <p:cNvSpPr/>
          <p:nvPr/>
        </p:nvSpPr>
        <p:spPr>
          <a:xfrm>
            <a:off x="13858875" y="3143250"/>
            <a:ext cx="2190750" cy="0"/>
          </a:xfrm>
          <a:prstGeom prst="line">
            <a:avLst/>
          </a:prstGeom>
          <a:ln cap="rnd" w="57150">
            <a:solidFill>
              <a:srgbClr val="02B67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8" id="28"/>
          <p:cNvGrpSpPr/>
          <p:nvPr/>
        </p:nvGrpSpPr>
        <p:grpSpPr>
          <a:xfrm rot="0">
            <a:off x="1047750" y="5381625"/>
            <a:ext cx="1428750" cy="1047750"/>
            <a:chOff x="0" y="0"/>
            <a:chExt cx="1905000" cy="13970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905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1905000">
                  <a:moveTo>
                    <a:pt x="152400" y="0"/>
                  </a:moveTo>
                  <a:lnTo>
                    <a:pt x="1752600" y="0"/>
                  </a:lnTo>
                  <a:cubicBezTo>
                    <a:pt x="1836768" y="0"/>
                    <a:pt x="1905000" y="68232"/>
                    <a:pt x="1905000" y="152400"/>
                  </a:cubicBezTo>
                  <a:lnTo>
                    <a:pt x="1905000" y="1244600"/>
                  </a:lnTo>
                  <a:cubicBezTo>
                    <a:pt x="1905000" y="1328768"/>
                    <a:pt x="1836768" y="1397000"/>
                    <a:pt x="1752600" y="1397000"/>
                  </a:cubicBezTo>
                  <a:lnTo>
                    <a:pt x="152400" y="1397000"/>
                  </a:lnTo>
                  <a:cubicBezTo>
                    <a:pt x="68232" y="1397000"/>
                    <a:pt x="0" y="1328768"/>
                    <a:pt x="0" y="12446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290606"/>
            </a:solidFill>
            <a:ln cap="sq">
              <a:noFill/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28575"/>
              <a:ext cx="1905000" cy="1368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97"/>
                </a:lnSpc>
              </a:pPr>
              <a:r>
                <a:rPr lang="en-US" sz="1725" b="true">
                  <a:solidFill>
                    <a:srgbClr val="FFFFFF"/>
                  </a:solidFill>
                  <a:latin typeface="Nunito Sans Expanded Bold"/>
                  <a:ea typeface="Nunito Sans Expanded Bold"/>
                  <a:cs typeface="Nunito Sans Expanded Bold"/>
                  <a:sym typeface="Nunito Sans Expanded Bold"/>
                </a:rPr>
                <a:t>Q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4953000" y="5381625"/>
            <a:ext cx="1428750" cy="1047750"/>
            <a:chOff x="0" y="0"/>
            <a:chExt cx="1905000" cy="13970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905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1905000">
                  <a:moveTo>
                    <a:pt x="152400" y="0"/>
                  </a:moveTo>
                  <a:lnTo>
                    <a:pt x="1752600" y="0"/>
                  </a:lnTo>
                  <a:cubicBezTo>
                    <a:pt x="1836768" y="0"/>
                    <a:pt x="1905000" y="68232"/>
                    <a:pt x="1905000" y="152400"/>
                  </a:cubicBezTo>
                  <a:lnTo>
                    <a:pt x="1905000" y="1244600"/>
                  </a:lnTo>
                  <a:cubicBezTo>
                    <a:pt x="1905000" y="1328768"/>
                    <a:pt x="1836768" y="1397000"/>
                    <a:pt x="1752600" y="1397000"/>
                  </a:cubicBezTo>
                  <a:lnTo>
                    <a:pt x="152400" y="1397000"/>
                  </a:lnTo>
                  <a:cubicBezTo>
                    <a:pt x="68232" y="1397000"/>
                    <a:pt x="0" y="1328768"/>
                    <a:pt x="0" y="12446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7B22E8"/>
            </a:solidFill>
            <a:ln cap="sq">
              <a:noFill/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28575"/>
              <a:ext cx="1905000" cy="1368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97"/>
                </a:lnSpc>
              </a:pPr>
              <a:r>
                <a:rPr lang="en-US" sz="1725" b="true">
                  <a:solidFill>
                    <a:srgbClr val="FFFFFF"/>
                  </a:solidFill>
                  <a:latin typeface="Nunito Sans Expanded Bold"/>
                  <a:ea typeface="Nunito Sans Expanded Bold"/>
                  <a:cs typeface="Nunito Sans Expanded Bold"/>
                  <a:sym typeface="Nunito Sans Expanded Bold"/>
                </a:rPr>
                <a:t>G</a:t>
              </a:r>
            </a:p>
          </p:txBody>
        </p:sp>
      </p:grpSp>
      <p:sp>
        <p:nvSpPr>
          <p:cNvPr name="AutoShape 34" id="34"/>
          <p:cNvSpPr/>
          <p:nvPr/>
        </p:nvSpPr>
        <p:spPr>
          <a:xfrm>
            <a:off x="2619375" y="5905500"/>
            <a:ext cx="2190750" cy="0"/>
          </a:xfrm>
          <a:prstGeom prst="line">
            <a:avLst/>
          </a:prstGeom>
          <a:ln cap="rnd" w="57150">
            <a:solidFill>
              <a:srgbClr val="02B67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5" id="35"/>
          <p:cNvGrpSpPr/>
          <p:nvPr/>
        </p:nvGrpSpPr>
        <p:grpSpPr>
          <a:xfrm rot="0">
            <a:off x="6667500" y="5381625"/>
            <a:ext cx="1428750" cy="1047750"/>
            <a:chOff x="0" y="0"/>
            <a:chExt cx="1905000" cy="13970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905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1905000">
                  <a:moveTo>
                    <a:pt x="152400" y="0"/>
                  </a:moveTo>
                  <a:lnTo>
                    <a:pt x="1752600" y="0"/>
                  </a:lnTo>
                  <a:cubicBezTo>
                    <a:pt x="1836768" y="0"/>
                    <a:pt x="1905000" y="68232"/>
                    <a:pt x="1905000" y="152400"/>
                  </a:cubicBezTo>
                  <a:lnTo>
                    <a:pt x="1905000" y="1244600"/>
                  </a:lnTo>
                  <a:cubicBezTo>
                    <a:pt x="1905000" y="1328768"/>
                    <a:pt x="1836768" y="1397000"/>
                    <a:pt x="1752600" y="1397000"/>
                  </a:cubicBezTo>
                  <a:lnTo>
                    <a:pt x="152400" y="1397000"/>
                  </a:lnTo>
                  <a:cubicBezTo>
                    <a:pt x="68232" y="1397000"/>
                    <a:pt x="0" y="1328768"/>
                    <a:pt x="0" y="12446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290606"/>
            </a:solidFill>
            <a:ln cap="sq">
              <a:noFill/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28575"/>
              <a:ext cx="1905000" cy="1368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97"/>
                </a:lnSpc>
              </a:pPr>
              <a:r>
                <a:rPr lang="en-US" sz="1725" b="true">
                  <a:solidFill>
                    <a:srgbClr val="FFFFFF"/>
                  </a:solidFill>
                  <a:latin typeface="Nunito Sans Expanded Bold"/>
                  <a:ea typeface="Nunito Sans Expanded Bold"/>
                  <a:cs typeface="Nunito Sans Expanded Bold"/>
                  <a:sym typeface="Nunito Sans Expanded Bold"/>
                </a:rPr>
                <a:t>U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0572750" y="5381625"/>
            <a:ext cx="1428750" cy="1047750"/>
            <a:chOff x="0" y="0"/>
            <a:chExt cx="1905000" cy="13970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905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1905000">
                  <a:moveTo>
                    <a:pt x="152400" y="0"/>
                  </a:moveTo>
                  <a:lnTo>
                    <a:pt x="1752600" y="0"/>
                  </a:lnTo>
                  <a:cubicBezTo>
                    <a:pt x="1836768" y="0"/>
                    <a:pt x="1905000" y="68232"/>
                    <a:pt x="1905000" y="152400"/>
                  </a:cubicBezTo>
                  <a:lnTo>
                    <a:pt x="1905000" y="1244600"/>
                  </a:lnTo>
                  <a:cubicBezTo>
                    <a:pt x="1905000" y="1328768"/>
                    <a:pt x="1836768" y="1397000"/>
                    <a:pt x="1752600" y="1397000"/>
                  </a:cubicBezTo>
                  <a:lnTo>
                    <a:pt x="152400" y="1397000"/>
                  </a:lnTo>
                  <a:cubicBezTo>
                    <a:pt x="68232" y="1397000"/>
                    <a:pt x="0" y="1328768"/>
                    <a:pt x="0" y="12446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7B22E8"/>
            </a:solidFill>
            <a:ln cap="sq">
              <a:noFill/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0" y="28575"/>
              <a:ext cx="1905000" cy="1368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97"/>
                </a:lnSpc>
              </a:pPr>
              <a:r>
                <a:rPr lang="en-US" sz="1725" b="true">
                  <a:solidFill>
                    <a:srgbClr val="FFFFFF"/>
                  </a:solidFill>
                  <a:latin typeface="Nunito Sans Expanded Bold"/>
                  <a:ea typeface="Nunito Sans Expanded Bold"/>
                  <a:cs typeface="Nunito Sans Expanded Bold"/>
                  <a:sym typeface="Nunito Sans Expanded Bold"/>
                </a:rPr>
                <a:t>V</a:t>
              </a:r>
            </a:p>
          </p:txBody>
        </p:sp>
      </p:grpSp>
      <p:sp>
        <p:nvSpPr>
          <p:cNvPr name="AutoShape 41" id="41"/>
          <p:cNvSpPr/>
          <p:nvPr/>
        </p:nvSpPr>
        <p:spPr>
          <a:xfrm>
            <a:off x="8239125" y="5905500"/>
            <a:ext cx="2190750" cy="0"/>
          </a:xfrm>
          <a:prstGeom prst="line">
            <a:avLst/>
          </a:prstGeom>
          <a:ln cap="rnd" w="57150">
            <a:solidFill>
              <a:srgbClr val="02B67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2" id="42"/>
          <p:cNvGrpSpPr/>
          <p:nvPr/>
        </p:nvGrpSpPr>
        <p:grpSpPr>
          <a:xfrm rot="0">
            <a:off x="12287250" y="5381625"/>
            <a:ext cx="1428750" cy="1047750"/>
            <a:chOff x="0" y="0"/>
            <a:chExt cx="1905000" cy="13970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905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1905000">
                  <a:moveTo>
                    <a:pt x="152400" y="0"/>
                  </a:moveTo>
                  <a:lnTo>
                    <a:pt x="1752600" y="0"/>
                  </a:lnTo>
                  <a:cubicBezTo>
                    <a:pt x="1836768" y="0"/>
                    <a:pt x="1905000" y="68232"/>
                    <a:pt x="1905000" y="152400"/>
                  </a:cubicBezTo>
                  <a:lnTo>
                    <a:pt x="1905000" y="1244600"/>
                  </a:lnTo>
                  <a:cubicBezTo>
                    <a:pt x="1905000" y="1328768"/>
                    <a:pt x="1836768" y="1397000"/>
                    <a:pt x="1752600" y="1397000"/>
                  </a:cubicBezTo>
                  <a:lnTo>
                    <a:pt x="152400" y="1397000"/>
                  </a:lnTo>
                  <a:cubicBezTo>
                    <a:pt x="68232" y="1397000"/>
                    <a:pt x="0" y="1328768"/>
                    <a:pt x="0" y="12446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290606"/>
            </a:solidFill>
            <a:ln cap="sq">
              <a:noFill/>
              <a:prstDash val="solid"/>
              <a:miter/>
            </a:ln>
          </p:spPr>
        </p:sp>
        <p:sp>
          <p:nvSpPr>
            <p:cNvPr name="TextBox 44" id="44"/>
            <p:cNvSpPr txBox="true"/>
            <p:nvPr/>
          </p:nvSpPr>
          <p:spPr>
            <a:xfrm>
              <a:off x="0" y="28575"/>
              <a:ext cx="1905000" cy="1368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97"/>
                </a:lnSpc>
              </a:pPr>
              <a:r>
                <a:rPr lang="en-US" sz="1725" b="true">
                  <a:solidFill>
                    <a:srgbClr val="FFFFFF"/>
                  </a:solidFill>
                  <a:latin typeface="Nunito Sans Expanded Bold"/>
                  <a:ea typeface="Nunito Sans Expanded Bold"/>
                  <a:cs typeface="Nunito Sans Expanded Bold"/>
                  <a:sym typeface="Nunito Sans Expanded Bold"/>
                </a:rPr>
                <a:t>V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6192500" y="5381625"/>
            <a:ext cx="1428750" cy="1047750"/>
            <a:chOff x="0" y="0"/>
            <a:chExt cx="1905000" cy="13970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905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1905000">
                  <a:moveTo>
                    <a:pt x="152400" y="0"/>
                  </a:moveTo>
                  <a:lnTo>
                    <a:pt x="1752600" y="0"/>
                  </a:lnTo>
                  <a:cubicBezTo>
                    <a:pt x="1836768" y="0"/>
                    <a:pt x="1905000" y="68232"/>
                    <a:pt x="1905000" y="152400"/>
                  </a:cubicBezTo>
                  <a:lnTo>
                    <a:pt x="1905000" y="1244600"/>
                  </a:lnTo>
                  <a:cubicBezTo>
                    <a:pt x="1905000" y="1328768"/>
                    <a:pt x="1836768" y="1397000"/>
                    <a:pt x="1752600" y="1397000"/>
                  </a:cubicBezTo>
                  <a:lnTo>
                    <a:pt x="152400" y="1397000"/>
                  </a:lnTo>
                  <a:cubicBezTo>
                    <a:pt x="68232" y="1397000"/>
                    <a:pt x="0" y="1328768"/>
                    <a:pt x="0" y="12446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7B22E8"/>
            </a:solidFill>
            <a:ln cap="sq">
              <a:noFill/>
              <a:prstDash val="solid"/>
              <a:miter/>
            </a:ln>
          </p:spPr>
        </p:sp>
        <p:sp>
          <p:nvSpPr>
            <p:cNvPr name="TextBox 47" id="47"/>
            <p:cNvSpPr txBox="true"/>
            <p:nvPr/>
          </p:nvSpPr>
          <p:spPr>
            <a:xfrm>
              <a:off x="0" y="28575"/>
              <a:ext cx="1905000" cy="1368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97"/>
                </a:lnSpc>
              </a:pPr>
              <a:r>
                <a:rPr lang="en-US" sz="1725" b="true">
                  <a:solidFill>
                    <a:srgbClr val="FFFFFF"/>
                  </a:solidFill>
                  <a:latin typeface="Nunito Sans Expanded Bold"/>
                  <a:ea typeface="Nunito Sans Expanded Bold"/>
                  <a:cs typeface="Nunito Sans Expanded Bold"/>
                  <a:sym typeface="Nunito Sans Expanded Bold"/>
                </a:rPr>
                <a:t>U</a:t>
              </a:r>
            </a:p>
          </p:txBody>
        </p:sp>
      </p:grpSp>
      <p:sp>
        <p:nvSpPr>
          <p:cNvPr name="AutoShape 48" id="48"/>
          <p:cNvSpPr/>
          <p:nvPr/>
        </p:nvSpPr>
        <p:spPr>
          <a:xfrm>
            <a:off x="13858875" y="5905500"/>
            <a:ext cx="2190750" cy="0"/>
          </a:xfrm>
          <a:prstGeom prst="line">
            <a:avLst/>
          </a:prstGeom>
          <a:ln cap="rnd" w="57150">
            <a:solidFill>
              <a:srgbClr val="02B67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9" id="49"/>
          <p:cNvSpPr txBox="true"/>
          <p:nvPr/>
        </p:nvSpPr>
        <p:spPr>
          <a:xfrm rot="0">
            <a:off x="3000375" y="3495675"/>
            <a:ext cx="1428750" cy="472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72"/>
              </a:lnSpc>
            </a:pPr>
            <a:r>
              <a:rPr lang="en-US" sz="3600" b="true">
                <a:solidFill>
                  <a:srgbClr val="FF572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167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8620125" y="3495675"/>
            <a:ext cx="1428750" cy="472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72"/>
              </a:lnSpc>
            </a:pPr>
            <a:r>
              <a:rPr lang="en-US" sz="3600" b="true">
                <a:solidFill>
                  <a:srgbClr val="FF572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132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4239875" y="3495675"/>
            <a:ext cx="1428750" cy="472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72"/>
              </a:lnSpc>
            </a:pPr>
            <a:r>
              <a:rPr lang="en-US" sz="3600" b="true">
                <a:solidFill>
                  <a:srgbClr val="FF572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66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3000375" y="6257925"/>
            <a:ext cx="1428750" cy="472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72"/>
              </a:lnSpc>
            </a:pPr>
            <a:r>
              <a:rPr lang="en-US" sz="3600" b="true">
                <a:solidFill>
                  <a:srgbClr val="FF572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60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8620125" y="6257925"/>
            <a:ext cx="1428750" cy="472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72"/>
              </a:lnSpc>
            </a:pPr>
            <a:r>
              <a:rPr lang="en-US" sz="3600" b="true">
                <a:solidFill>
                  <a:srgbClr val="FF572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32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4239875" y="6257925"/>
            <a:ext cx="1428750" cy="472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72"/>
              </a:lnSpc>
            </a:pPr>
            <a:r>
              <a:rPr lang="en-US" sz="3600" b="true">
                <a:solidFill>
                  <a:srgbClr val="FF572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21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6381750" y="1914525"/>
            <a:ext cx="5524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b="true" sz="1650" spc="198">
                <a:solidFill>
                  <a:srgbClr val="075C46"/>
                </a:solidFill>
                <a:latin typeface="Nunito Sans Expanded Bold"/>
                <a:ea typeface="Nunito Sans Expanded Bold"/>
                <a:cs typeface="Nunito Sans Expanded Bold"/>
                <a:sym typeface="Nunito Sans Expanded Bold"/>
              </a:rPr>
              <a:t>TRUE  →  PREDICTED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2333625" y="8420100"/>
            <a:ext cx="13620750" cy="636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92"/>
              </a:lnSpc>
            </a:pPr>
            <a:r>
              <a:rPr lang="en-US" sz="2025">
                <a:solidFill>
                  <a:srgbClr val="290606"/>
                </a:solidFill>
                <a:latin typeface="Nunito Sans Expanded"/>
                <a:ea typeface="Nunito Sans Expanded"/>
                <a:cs typeface="Nunito Sans Expanded"/>
                <a:sym typeface="Nunito Sans Expanded"/>
              </a:rPr>
              <a:t>Vertical-stroke I/L is notably weaker; rounded G/Q is the next major difficulty. No claim of balanced performance.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857250" y="9725025"/>
            <a:ext cx="16573500" cy="188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b="true" sz="1200" spc="144">
                <a:solidFill>
                  <a:srgbClr val="075C46"/>
                </a:solidFill>
                <a:latin typeface="Nunito Sans Expanded Bold"/>
                <a:ea typeface="Nunito Sans Expanded Bold"/>
                <a:cs typeface="Nunito Sans Expanded Bold"/>
                <a:sym typeface="Nunito Sans Expanded Bold"/>
              </a:rPr>
              <a:t>HANDWRITTEN LETTER RECOGNITION   /   13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5C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57250" y="428625"/>
            <a:ext cx="5715000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spc="162" b="true">
                <a:solidFill>
                  <a:srgbClr val="EEF4F3"/>
                </a:solidFill>
                <a:latin typeface="Nunito Sans Expanded Bold"/>
                <a:ea typeface="Nunito Sans Expanded Bold"/>
                <a:cs typeface="Nunito Sans Expanded Bold"/>
                <a:sym typeface="Nunito Sans Expanded Bold"/>
              </a:rPr>
              <a:t>14  •  DELE CA1 PART 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57250" y="895350"/>
            <a:ext cx="14287500" cy="585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7"/>
              </a:lnSpc>
            </a:pPr>
            <a:r>
              <a:rPr lang="en-US" sz="4350" b="tru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Conclusion and Save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57250" y="1504950"/>
            <a:ext cx="1143000" cy="66675"/>
            <a:chOff x="0" y="0"/>
            <a:chExt cx="1524000" cy="889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0" cy="88900"/>
            </a:xfrm>
            <a:custGeom>
              <a:avLst/>
              <a:gdLst/>
              <a:ahLst/>
              <a:cxnLst/>
              <a:rect r="r" b="b" t="t" l="l"/>
              <a:pathLst>
                <a:path h="88900" w="1524000">
                  <a:moveTo>
                    <a:pt x="0" y="0"/>
                  </a:moveTo>
                  <a:lnTo>
                    <a:pt x="1524000" y="0"/>
                  </a:lnTo>
                  <a:lnTo>
                    <a:pt x="1524000" y="88900"/>
                  </a:lnTo>
                  <a:lnTo>
                    <a:pt x="0" y="88900"/>
                  </a:lnTo>
                  <a:close/>
                </a:path>
              </a:pathLst>
            </a:custGeom>
            <a:solidFill>
              <a:srgbClr val="FF5722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524000" cy="127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2001500" y="2000250"/>
            <a:ext cx="4762500" cy="4762500"/>
          </a:xfrm>
          <a:custGeom>
            <a:avLst/>
            <a:gdLst/>
            <a:ahLst/>
            <a:cxnLst/>
            <a:rect r="r" b="b" t="t" l="l"/>
            <a:pathLst>
              <a:path h="4762500" w="4762500">
                <a:moveTo>
                  <a:pt x="0" y="0"/>
                </a:moveTo>
                <a:lnTo>
                  <a:pt x="4762500" y="0"/>
                </a:lnTo>
                <a:lnTo>
                  <a:pt x="4762500" y="4762500"/>
                </a:lnTo>
                <a:lnTo>
                  <a:pt x="0" y="4762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8" id="8"/>
          <p:cNvSpPr txBox="true"/>
          <p:nvPr/>
        </p:nvSpPr>
        <p:spPr>
          <a:xfrm rot="0">
            <a:off x="1000125" y="2400300"/>
            <a:ext cx="6667500" cy="1262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62"/>
              </a:lnSpc>
            </a:pPr>
            <a:r>
              <a:rPr lang="en-US" sz="9375" b="true">
                <a:solidFill>
                  <a:srgbClr val="FF572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94.16%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95375" y="3571875"/>
            <a:ext cx="571500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 spc="225" b="true">
                <a:solidFill>
                  <a:srgbClr val="FFFFFF"/>
                </a:solidFill>
                <a:latin typeface="Nunito Sans Expanded Bold"/>
                <a:ea typeface="Nunito Sans Expanded Bold"/>
                <a:cs typeface="Nunito Sans Expanded Bold"/>
                <a:sym typeface="Nunito Sans Expanded Bold"/>
              </a:rPr>
              <a:t>FINAL TEST ACCURACY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43000" y="4791075"/>
            <a:ext cx="9525000" cy="1759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4"/>
              </a:lnSpc>
            </a:pPr>
            <a:r>
              <a:rPr lang="en-US" sz="2175">
                <a:solidFill>
                  <a:srgbClr val="EEF4F3"/>
                </a:solidFill>
                <a:latin typeface="Nunito Sans Expanded"/>
                <a:ea typeface="Nunito Sans Expanded"/>
                <a:cs typeface="Nunito Sans Expanded"/>
                <a:sym typeface="Nunito Sans Expanded"/>
              </a:rPr>
              <a:t>• 5.84% errors, often between similar letters</a:t>
            </a:r>
          </a:p>
          <a:p>
            <a:pPr algn="l">
              <a:lnSpc>
                <a:spcPts val="2784"/>
              </a:lnSpc>
            </a:pPr>
            <a:r>
              <a:rPr lang="en-US" sz="2175">
                <a:solidFill>
                  <a:srgbClr val="EEF4F3"/>
                </a:solidFill>
                <a:latin typeface="Nunito Sans Expanded"/>
                <a:ea typeface="Nunito Sans Expanded"/>
                <a:cs typeface="Nunito Sans Expanded"/>
                <a:sym typeface="Nunito Sans Expanded"/>
              </a:rPr>
              <a:t>• Static augmentation not selected</a:t>
            </a:r>
          </a:p>
          <a:p>
            <a:pPr algn="l">
              <a:lnSpc>
                <a:spcPts val="2784"/>
              </a:lnSpc>
            </a:pPr>
            <a:r>
              <a:rPr lang="en-US" sz="2175">
                <a:solidFill>
                  <a:srgbClr val="EEF4F3"/>
                </a:solidFill>
                <a:latin typeface="Nunito Sans Expanded"/>
                <a:ea typeface="Nunito Sans Expanded"/>
                <a:cs typeface="Nunito Sans Expanded"/>
                <a:sym typeface="Nunito Sans Expanded"/>
              </a:rPr>
              <a:t>• Rebuilt + reloaded: same 94.16% / 0.1763</a:t>
            </a:r>
          </a:p>
          <a:p>
            <a:pPr algn="l">
              <a:lnSpc>
                <a:spcPts val="2784"/>
              </a:lnSpc>
            </a:pPr>
            <a:r>
              <a:rPr lang="en-US" sz="2175">
                <a:solidFill>
                  <a:srgbClr val="EEF4F3"/>
                </a:solidFill>
                <a:latin typeface="Nunito Sans Expanded"/>
                <a:ea typeface="Nunito Sans Expanded"/>
                <a:cs typeface="Nunito Sans Expanded"/>
                <a:sym typeface="Nunito Sans Expanded"/>
              </a:rPr>
              <a:t>• Fixed seed still allows run-to-run variation</a:t>
            </a:r>
          </a:p>
          <a:p>
            <a:pPr algn="l">
              <a:lnSpc>
                <a:spcPts val="2784"/>
              </a:lnSpc>
            </a:pPr>
            <a:r>
              <a:rPr lang="en-US" sz="2175">
                <a:solidFill>
                  <a:srgbClr val="EEF4F3"/>
                </a:solidFill>
                <a:latin typeface="Nunito Sans Expanded"/>
                <a:ea typeface="Nunito Sans Expanded"/>
                <a:cs typeface="Nunito Sans Expanded"/>
                <a:sym typeface="Nunito Sans Expanded"/>
              </a:rPr>
              <a:t>• Future: improve similar-shape discrimination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43000" y="7915275"/>
            <a:ext cx="971550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spc="252" b="true">
                <a:solidFill>
                  <a:srgbClr val="02B676"/>
                </a:solidFill>
                <a:latin typeface="Nunito Sans Expanded Bold"/>
                <a:ea typeface="Nunito Sans Expanded Bold"/>
                <a:cs typeface="Nunito Sans Expanded Bold"/>
                <a:sym typeface="Nunito Sans Expanded Bold"/>
              </a:rPr>
              <a:t>CA1_PartA_final_model.weights.h5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382500" y="7600950"/>
            <a:ext cx="4476750" cy="585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37"/>
              </a:lnSpc>
            </a:pPr>
            <a:r>
              <a:rPr lang="en-US" sz="4350" b="tru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THANK YOU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382500" y="8391525"/>
            <a:ext cx="447675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b="true" sz="1650" spc="198">
                <a:solidFill>
                  <a:srgbClr val="CFE7DF"/>
                </a:solidFill>
                <a:latin typeface="Nunito Sans Expanded Bold"/>
                <a:ea typeface="Nunito Sans Expanded Bold"/>
                <a:cs typeface="Nunito Sans Expanded Bold"/>
                <a:sym typeface="Nunito Sans Expanded Bold"/>
              </a:rPr>
              <a:t>YAN MYOE NAING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57250" y="9725025"/>
            <a:ext cx="16573500" cy="188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b="true" sz="1200" spc="144">
                <a:solidFill>
                  <a:srgbClr val="CFE7DF"/>
                </a:solidFill>
                <a:latin typeface="Nunito Sans Expanded Bold"/>
                <a:ea typeface="Nunito Sans Expanded Bold"/>
                <a:cs typeface="Nunito Sans Expanded Bold"/>
                <a:sym typeface="Nunito Sans Expanded Bold"/>
              </a:rPr>
              <a:t>HANDWRITTEN LETTER RECOGNITION   /  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DAHXQyhLpPw</dc:identifier>
  <dcterms:modified xsi:type="dcterms:W3CDTF">2011-08-01T06:04:30Z</dcterms:modified>
  <cp:revision>1</cp:revision>
  <dc:title>Handwritten Letter Recognition</dc:title>
</cp:coreProperties>
</file>